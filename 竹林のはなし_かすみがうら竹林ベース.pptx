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自己紹介の導入。かすみがうら市の里山にある竹林を拠点に、たけのこ掘り・竹炭づくり・瞑想ウォークを続けていることを一言で伝える。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【要記入】竹林に関わりはじめた年、そのきっかけ、前職で今に活きていることをここで一言添えると説得力が増します。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竹が悪いのではなく、関わる人がいなくなったという流れにつなげる。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作業と休息が同じ場所にあることが、この竹林の特徴。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竹林整備が一度きりでは終わらないこと、継続の仕組みが要ることを図で説明する。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年間の四行事。旧暦・月のリズムに合わせている点が他の竹林体験との違い。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参加のハードルの違う三つの入り口を用意している、という説明。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教育・体験としての竹の価値。学校や自治体向けにはこのスライドを厚めに話す。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この一文がいちばん伝えたいこと。ここで一拍おく。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【要記入】3年後にこうなっていたい、という一文をここに入れると締まります。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連絡先。LINEが最も反応が早いことを口頭で添える。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362A"/>
        </a:solidFill>
      </p:bgPr>
    </p:bg>
    <p:spTree>
      <p:nvGrpSpPr>
        <p:cNvPr id="1" name=""/>
        <p:cNvGrpSpPr/>
        <p:nvPr/>
      </p:nvGrpSpPr>
      <p:grpSpPr>
        <a:xfrm>
          <a:off x="0" y="0"/>
          <a:ext cx="0" cy="0"/>
          <a:chOff x="0" y="0"/>
          <a:chExt cx="0" cy="0"/>
        </a:xfrm>
      </p:grpSpPr>
      <p:pic>
        <p:nvPicPr>
          <p:cNvPr id="2" name="Image 0" descr="/tmp/claude-0/-home-user-bamboo-hp/ff9834b5-0209-5f50-8799-4952c8f99085/scratchpad/img/hero.jpg">    </p:cNvPr>
          <p:cNvPicPr>
            <a:picLocks noChangeAspect="1"/>
          </p:cNvPicPr>
          <p:nvPr/>
        </p:nvPicPr>
        <p:blipFill>
          <a:blip r:embed="rId1"/>
          <a:srcRect l="0" r="0" t="0" b="0"/>
          <a:stretch/>
        </p:blipFill>
        <p:spPr>
          <a:xfrm>
            <a:off x="0" y="-1463040"/>
            <a:ext cx="12161520" cy="9098280"/>
          </a:xfrm>
          <a:prstGeom prst="rect">
            <a:avLst/>
          </a:prstGeom>
        </p:spPr>
      </p:pic>
      <p:sp>
        <p:nvSpPr>
          <p:cNvPr id="3" name="Shape 0"/>
          <p:cNvSpPr/>
          <p:nvPr/>
        </p:nvSpPr>
        <p:spPr>
          <a:xfrm>
            <a:off x="0" y="0"/>
            <a:ext cx="12161520" cy="6858000"/>
          </a:xfrm>
          <a:prstGeom prst="rect">
            <a:avLst/>
          </a:prstGeom>
          <a:solidFill>
            <a:srgbClr val="2C362A">
              <a:alpha val="35000"/>
            </a:srgbClr>
          </a:solidFill>
          <a:ln/>
        </p:spPr>
      </p:sp>
      <p:sp>
        <p:nvSpPr>
          <p:cNvPr id="4" name="Shape 1"/>
          <p:cNvSpPr/>
          <p:nvPr/>
        </p:nvSpPr>
        <p:spPr>
          <a:xfrm>
            <a:off x="0" y="3291840"/>
            <a:ext cx="12161520" cy="3566160"/>
          </a:xfrm>
          <a:prstGeom prst="rect">
            <a:avLst/>
          </a:prstGeom>
          <a:solidFill>
            <a:srgbClr val="2C362A">
              <a:alpha val="57000"/>
            </a:srgbClr>
          </a:solidFill>
          <a:ln/>
        </p:spPr>
      </p:sp>
      <p:sp>
        <p:nvSpPr>
          <p:cNvPr id="5" name="Text 2"/>
          <p:cNvSpPr/>
          <p:nvPr/>
        </p:nvSpPr>
        <p:spPr>
          <a:xfrm>
            <a:off x="868680" y="3794760"/>
            <a:ext cx="5486400" cy="256032"/>
          </a:xfrm>
          <a:prstGeom prst="rect">
            <a:avLst/>
          </a:prstGeom>
          <a:noFill/>
          <a:ln/>
        </p:spPr>
        <p:txBody>
          <a:bodyPr wrap="square" lIns="0" tIns="0" rIns="0" bIns="0" rtlCol="0" anchor="ctr"/>
          <a:lstStyle/>
          <a:p>
            <a:pPr indent="0" marL="0">
              <a:buNone/>
            </a:pPr>
            <a:r>
              <a:rPr lang="en-US" sz="1100" spc="300" kern="0" dirty="0">
                <a:solidFill>
                  <a:srgbClr val="C8A96E"/>
                </a:solidFill>
                <a:latin typeface="Cambria" pitchFamily="34" charset="0"/>
                <a:ea typeface="Cambria" pitchFamily="34" charset="-122"/>
                <a:cs typeface="Cambria" pitchFamily="34" charset="-120"/>
              </a:rPr>
              <a:t>F O R E S T   W O R K S</a:t>
            </a:r>
            <a:endParaRPr lang="en-US" sz="1100" dirty="0"/>
          </a:p>
        </p:txBody>
      </p:sp>
      <p:sp>
        <p:nvSpPr>
          <p:cNvPr id="6" name="Text 3"/>
          <p:cNvSpPr/>
          <p:nvPr/>
        </p:nvSpPr>
        <p:spPr>
          <a:xfrm>
            <a:off x="822960" y="4114800"/>
            <a:ext cx="10058400" cy="1234440"/>
          </a:xfrm>
          <a:prstGeom prst="rect">
            <a:avLst/>
          </a:prstGeom>
          <a:noFill/>
          <a:ln/>
        </p:spPr>
        <p:txBody>
          <a:bodyPr wrap="square" lIns="0" tIns="0" rIns="0" bIns="0" rtlCol="0" anchor="ctr"/>
          <a:lstStyle/>
          <a:p>
            <a:pPr indent="0" marL="0">
              <a:buNone/>
            </a:pPr>
            <a:r>
              <a:rPr lang="en-US" sz="5200" b="1" spc="400" kern="0" dirty="0">
                <a:solidFill>
                  <a:srgbClr val="FFFFFF"/>
                </a:solidFill>
                <a:latin typeface="Yu Mincho" pitchFamily="34" charset="0"/>
                <a:ea typeface="Yu Mincho" pitchFamily="34" charset="-122"/>
                <a:cs typeface="Yu Mincho" pitchFamily="34" charset="-120"/>
              </a:rPr>
              <a:t>竹林のはなし</a:t>
            </a:r>
            <a:endParaRPr lang="en-US" sz="5200" dirty="0"/>
          </a:p>
        </p:txBody>
      </p:sp>
      <p:sp>
        <p:nvSpPr>
          <p:cNvPr id="7" name="Text 4"/>
          <p:cNvSpPr/>
          <p:nvPr/>
        </p:nvSpPr>
        <p:spPr>
          <a:xfrm>
            <a:off x="868680" y="5440680"/>
            <a:ext cx="10058400" cy="411480"/>
          </a:xfrm>
          <a:prstGeom prst="rect">
            <a:avLst/>
          </a:prstGeom>
          <a:noFill/>
          <a:ln/>
        </p:spPr>
        <p:txBody>
          <a:bodyPr wrap="square" lIns="0" tIns="0" rIns="0" bIns="0" rtlCol="0" anchor="ctr"/>
          <a:lstStyle/>
          <a:p>
            <a:pPr indent="0" marL="0">
              <a:buNone/>
            </a:pPr>
            <a:r>
              <a:rPr lang="en-US" sz="1500" dirty="0">
                <a:solidFill>
                  <a:srgbClr val="E8EDE7"/>
                </a:solidFill>
                <a:latin typeface="Yu Gothic" pitchFamily="34" charset="0"/>
                <a:ea typeface="Yu Gothic" pitchFamily="34" charset="-122"/>
                <a:cs typeface="Yu Gothic" pitchFamily="34" charset="-120"/>
              </a:rPr>
              <a:t>かすみがうら竹林ベース　／　茨城県かすみがうら市</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8F6"/>
        </a:solidFill>
      </p:bgPr>
    </p:bg>
    <p:spTree>
      <p:nvGrpSpPr>
        <p:cNvPr id="1" name=""/>
        <p:cNvGrpSpPr/>
        <p:nvPr/>
      </p:nvGrpSpPr>
      <p:grpSpPr>
        <a:xfrm>
          <a:off x="0" y="0"/>
          <a:ext cx="0" cy="0"/>
          <a:chOff x="0" y="0"/>
          <a:chExt cx="0" cy="0"/>
        </a:xfrm>
      </p:grpSpPr>
      <p:sp>
        <p:nvSpPr>
          <p:cNvPr id="2" name="Text 0"/>
          <p:cNvSpPr/>
          <p:nvPr/>
        </p:nvSpPr>
        <p:spPr>
          <a:xfrm>
            <a:off x="822960" y="685800"/>
            <a:ext cx="5486400" cy="256032"/>
          </a:xfrm>
          <a:prstGeom prst="rect">
            <a:avLst/>
          </a:prstGeom>
          <a:noFill/>
          <a:ln/>
        </p:spPr>
        <p:txBody>
          <a:bodyPr wrap="square" lIns="0" tIns="0" rIns="0" bIns="0" rtlCol="0" anchor="ctr"/>
          <a:lstStyle/>
          <a:p>
            <a:pPr indent="0" marL="0">
              <a:buNone/>
            </a:pPr>
            <a:r>
              <a:rPr lang="en-US" sz="1100" spc="300" kern="0" dirty="0">
                <a:solidFill>
                  <a:srgbClr val="C8A96E"/>
                </a:solidFill>
                <a:latin typeface="Cambria" pitchFamily="34" charset="0"/>
                <a:ea typeface="Cambria" pitchFamily="34" charset="-122"/>
                <a:cs typeface="Cambria" pitchFamily="34" charset="-120"/>
              </a:rPr>
              <a:t>W H O</a:t>
            </a:r>
            <a:endParaRPr lang="en-US" sz="1100" dirty="0"/>
          </a:p>
        </p:txBody>
      </p:sp>
      <p:sp>
        <p:nvSpPr>
          <p:cNvPr id="3" name="Text 1"/>
          <p:cNvSpPr/>
          <p:nvPr/>
        </p:nvSpPr>
        <p:spPr>
          <a:xfrm>
            <a:off x="822960" y="1051560"/>
            <a:ext cx="6583680" cy="699008"/>
          </a:xfrm>
          <a:prstGeom prst="rect">
            <a:avLst/>
          </a:prstGeom>
          <a:noFill/>
          <a:ln/>
        </p:spPr>
        <p:txBody>
          <a:bodyPr wrap="square" lIns="0" tIns="0" rIns="0" bIns="0" rtlCol="0" anchor="t"/>
          <a:lstStyle/>
          <a:p>
            <a:pPr indent="0" marL="0">
              <a:lnSpc>
                <a:spcPts val="4640"/>
              </a:lnSpc>
              <a:buNone/>
            </a:pPr>
            <a:r>
              <a:rPr lang="en-US" sz="3200" b="1" dirty="0">
                <a:solidFill>
                  <a:srgbClr val="2C362A"/>
                </a:solidFill>
                <a:latin typeface="Yu Mincho" pitchFamily="34" charset="0"/>
                <a:ea typeface="Yu Mincho" pitchFamily="34" charset="-122"/>
                <a:cs typeface="Yu Mincho" pitchFamily="34" charset="-120"/>
              </a:rPr>
              <a:t>竹を伐る人が、いなくなった。</a:t>
            </a:r>
            <a:endParaRPr lang="en-US" sz="3200" dirty="0"/>
          </a:p>
        </p:txBody>
      </p:sp>
      <p:sp>
        <p:nvSpPr>
          <p:cNvPr id="4" name="Text 2"/>
          <p:cNvSpPr/>
          <p:nvPr/>
        </p:nvSpPr>
        <p:spPr>
          <a:xfrm>
            <a:off x="822960" y="2377440"/>
            <a:ext cx="6035040" cy="2834640"/>
          </a:xfrm>
          <a:prstGeom prst="rect">
            <a:avLst/>
          </a:prstGeom>
          <a:noFill/>
          <a:ln/>
        </p:spPr>
        <p:txBody>
          <a:bodyPr wrap="square" lIns="0" tIns="0" rIns="0" bIns="0" rtlCol="0" anchor="t"/>
          <a:lstStyle/>
          <a:p>
            <a:pPr indent="0" marL="0">
              <a:lnSpc>
                <a:spcPts val="2683"/>
              </a:lnSpc>
              <a:buNone/>
            </a:pPr>
            <a:r>
              <a:rPr lang="en-US" sz="1450" dirty="0">
                <a:solidFill>
                  <a:srgbClr val="3A4438"/>
                </a:solidFill>
                <a:latin typeface="Yu Gothic" pitchFamily="34" charset="0"/>
                <a:ea typeface="Yu Gothic" pitchFamily="34" charset="-122"/>
                <a:cs typeface="Yu Gothic" pitchFamily="34" charset="-120"/>
              </a:rPr>
              <a:t>わたしはこの竹林で、たけのこを掘り、竹を伐り、炭を焼いています。</a:t>
            </a:r>
            <a:endParaRPr lang="en-US" sz="1450" dirty="0"/>
          </a:p>
          <a:p>
            <a:pPr indent="0" marL="0">
              <a:lnSpc>
                <a:spcPts val="2683"/>
              </a:lnSpc>
              <a:buNone/>
            </a:pPr>
            <a:r>
              <a:rPr lang="en-US" sz="1450" dirty="0">
                <a:solidFill>
                  <a:srgbClr val="3A4438"/>
                </a:solidFill>
                <a:latin typeface="Yu Gothic" pitchFamily="34" charset="0"/>
                <a:ea typeface="Yu Gothic" pitchFamily="34" charset="-122"/>
                <a:cs typeface="Yu Gothic" pitchFamily="34" charset="-120"/>
              </a:rPr>
              <a:t>そして、人が来て、座って、黙っていられる場所をつくっています。</a:t>
            </a:r>
            <a:endParaRPr lang="en-US" sz="1450" dirty="0"/>
          </a:p>
          <a:p>
            <a:pPr indent="0" marL="0">
              <a:lnSpc>
                <a:spcPts val="2683"/>
              </a:lnSpc>
              <a:buNone/>
            </a:pPr>
            <a:endParaRPr lang="en-US" sz="1450" dirty="0"/>
          </a:p>
          <a:p>
            <a:pPr indent="0" marL="0">
              <a:lnSpc>
                <a:spcPts val="2683"/>
              </a:lnSpc>
              <a:buNone/>
            </a:pPr>
            <a:r>
              <a:rPr lang="en-US" sz="1450" dirty="0">
                <a:solidFill>
                  <a:srgbClr val="3A4438"/>
                </a:solidFill>
                <a:latin typeface="Yu Gothic" pitchFamily="34" charset="0"/>
                <a:ea typeface="Yu Gothic" pitchFamily="34" charset="-122"/>
                <a:cs typeface="Yu Gothic" pitchFamily="34" charset="-120"/>
              </a:rPr>
              <a:t>竹林の手入れは地味な仕事です。伐っても伐っても、翌年にはまた生えてくる。</a:t>
            </a:r>
            <a:endParaRPr lang="en-US" sz="1450" dirty="0"/>
          </a:p>
          <a:p>
            <a:pPr indent="0" marL="0">
              <a:lnSpc>
                <a:spcPts val="2683"/>
              </a:lnSpc>
              <a:buNone/>
            </a:pPr>
            <a:r>
              <a:rPr lang="en-US" sz="1450" dirty="0">
                <a:solidFill>
                  <a:srgbClr val="3A4438"/>
                </a:solidFill>
                <a:latin typeface="Yu Gothic" pitchFamily="34" charset="0"/>
                <a:ea typeface="Yu Gothic" pitchFamily="34" charset="-122"/>
                <a:cs typeface="Yu Gothic" pitchFamily="34" charset="-120"/>
              </a:rPr>
              <a:t>それでも続けているのは、竹が悪者だとは思っていないからです。</a:t>
            </a:r>
            <a:endParaRPr lang="en-US" sz="1450" dirty="0"/>
          </a:p>
          <a:p>
            <a:pPr indent="0" marL="0">
              <a:lnSpc>
                <a:spcPts val="2683"/>
              </a:lnSpc>
              <a:buNone/>
            </a:pPr>
            <a:r>
              <a:rPr lang="en-US" sz="1450" dirty="0">
                <a:solidFill>
                  <a:srgbClr val="3A4438"/>
                </a:solidFill>
                <a:latin typeface="Yu Gothic" pitchFamily="34" charset="0"/>
                <a:ea typeface="Yu Gothic" pitchFamily="34" charset="-122"/>
                <a:cs typeface="Yu Gothic" pitchFamily="34" charset="-120"/>
              </a:rPr>
              <a:t>関わる人がいなくなっただけなのだと、竹林に通うほどに感じています。</a:t>
            </a:r>
            <a:endParaRPr lang="en-US" sz="1450" dirty="0"/>
          </a:p>
        </p:txBody>
      </p:sp>
      <p:sp>
        <p:nvSpPr>
          <p:cNvPr id="5" name="Shape 3"/>
          <p:cNvSpPr/>
          <p:nvPr/>
        </p:nvSpPr>
        <p:spPr>
          <a:xfrm>
            <a:off x="7360920" y="1051560"/>
            <a:ext cx="4114800" cy="4114800"/>
          </a:xfrm>
          <a:prstGeom prst="ellipse">
            <a:avLst/>
          </a:prstGeom>
          <a:ln w="12700">
            <a:solidFill>
              <a:srgbClr val="C8A96E"/>
            </a:solidFill>
            <a:prstDash val="solid"/>
          </a:ln>
        </p:spPr>
      </p:sp>
      <p:pic>
        <p:nvPicPr>
          <p:cNvPr id="6" name="Image 0" descr="/tmp/claude-0/-home-user-bamboo-hp/ff9834b5-0209-5f50-8799-4952c8f99085/scratchpad/img/me.jpg">    </p:cNvPr>
          <p:cNvPicPr>
            <a:picLocks noChangeAspect="1"/>
          </p:cNvPicPr>
          <p:nvPr/>
        </p:nvPicPr>
        <p:blipFill>
          <a:blip r:embed="rId1"/>
          <a:srcRect l="0" r="0" t="0" b="0"/>
          <a:stretch/>
        </p:blipFill>
        <p:spPr>
          <a:xfrm>
            <a:off x="7589520" y="1280160"/>
            <a:ext cx="3657600" cy="3657600"/>
          </a:xfrm>
          <a:prstGeom prst="ellipse">
            <a:avLst/>
          </a:prstGeom>
        </p:spPr>
      </p:pic>
      <p:sp>
        <p:nvSpPr>
          <p:cNvPr id="7" name="Text 4"/>
          <p:cNvSpPr/>
          <p:nvPr/>
        </p:nvSpPr>
        <p:spPr>
          <a:xfrm>
            <a:off x="7360920" y="5440680"/>
            <a:ext cx="4114800" cy="365760"/>
          </a:xfrm>
          <a:prstGeom prst="rect">
            <a:avLst/>
          </a:prstGeom>
          <a:noFill/>
          <a:ln/>
        </p:spPr>
        <p:txBody>
          <a:bodyPr wrap="square" lIns="0" tIns="0" rIns="0" bIns="0" rtlCol="0" anchor="ctr"/>
          <a:lstStyle/>
          <a:p>
            <a:pPr algn="ctr" indent="0" marL="0">
              <a:buNone/>
            </a:pPr>
            <a:r>
              <a:rPr lang="en-US" sz="1900" b="1" spc="200" kern="0" dirty="0">
                <a:solidFill>
                  <a:srgbClr val="2C362A"/>
                </a:solidFill>
                <a:latin typeface="Yu Mincho" pitchFamily="34" charset="0"/>
                <a:ea typeface="Yu Mincho" pitchFamily="34" charset="-122"/>
                <a:cs typeface="Yu Mincho" pitchFamily="34" charset="-120"/>
              </a:rPr>
              <a:t>たけすみこ</a:t>
            </a:r>
            <a:endParaRPr lang="en-US" sz="1900" dirty="0"/>
          </a:p>
        </p:txBody>
      </p:sp>
      <p:sp>
        <p:nvSpPr>
          <p:cNvPr id="8" name="Text 5"/>
          <p:cNvSpPr/>
          <p:nvPr/>
        </p:nvSpPr>
        <p:spPr>
          <a:xfrm>
            <a:off x="7360920" y="5852160"/>
            <a:ext cx="4114800" cy="320040"/>
          </a:xfrm>
          <a:prstGeom prst="rect">
            <a:avLst/>
          </a:prstGeom>
          <a:noFill/>
          <a:ln/>
        </p:spPr>
        <p:txBody>
          <a:bodyPr wrap="square" lIns="0" tIns="0" rIns="0" bIns="0" rtlCol="0" anchor="ctr"/>
          <a:lstStyle/>
          <a:p>
            <a:pPr algn="ctr" indent="0" marL="0">
              <a:buNone/>
            </a:pPr>
            <a:r>
              <a:rPr lang="en-US" sz="1200" dirty="0">
                <a:solidFill>
                  <a:srgbClr val="7A8C76"/>
                </a:solidFill>
                <a:latin typeface="Yu Gothic" pitchFamily="34" charset="0"/>
                <a:ea typeface="Yu Gothic" pitchFamily="34" charset="-122"/>
                <a:cs typeface="Yu Gothic" pitchFamily="34" charset="-120"/>
              </a:rPr>
              <a:t>Forest Works ／ かすみがうら竹林ベース</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C362A"/>
        </a:solidFill>
      </p:bgPr>
    </p:bg>
    <p:spTree>
      <p:nvGrpSpPr>
        <p:cNvPr id="1" name=""/>
        <p:cNvGrpSpPr/>
        <p:nvPr/>
      </p:nvGrpSpPr>
      <p:grpSpPr>
        <a:xfrm>
          <a:off x="0" y="0"/>
          <a:ext cx="0" cy="0"/>
          <a:chOff x="0" y="0"/>
          <a:chExt cx="0" cy="0"/>
        </a:xfrm>
      </p:grpSpPr>
      <p:sp>
        <p:nvSpPr>
          <p:cNvPr id="2" name="Text 0"/>
          <p:cNvSpPr/>
          <p:nvPr/>
        </p:nvSpPr>
        <p:spPr>
          <a:xfrm>
            <a:off x="822960" y="685800"/>
            <a:ext cx="5486400" cy="256032"/>
          </a:xfrm>
          <a:prstGeom prst="rect">
            <a:avLst/>
          </a:prstGeom>
          <a:noFill/>
          <a:ln/>
        </p:spPr>
        <p:txBody>
          <a:bodyPr wrap="square" lIns="0" tIns="0" rIns="0" bIns="0" rtlCol="0" anchor="ctr"/>
          <a:lstStyle/>
          <a:p>
            <a:pPr indent="0" marL="0">
              <a:buNone/>
            </a:pPr>
            <a:r>
              <a:rPr lang="en-US" sz="1100" spc="300" kern="0" dirty="0">
                <a:solidFill>
                  <a:srgbClr val="C8A96E"/>
                </a:solidFill>
                <a:latin typeface="Cambria" pitchFamily="34" charset="0"/>
                <a:ea typeface="Cambria" pitchFamily="34" charset="-122"/>
                <a:cs typeface="Cambria" pitchFamily="34" charset="-120"/>
              </a:rPr>
              <a:t>C O N T E X T</a:t>
            </a:r>
            <a:endParaRPr lang="en-US" sz="1100" dirty="0"/>
          </a:p>
        </p:txBody>
      </p:sp>
      <p:sp>
        <p:nvSpPr>
          <p:cNvPr id="3" name="Text 1"/>
          <p:cNvSpPr/>
          <p:nvPr/>
        </p:nvSpPr>
        <p:spPr>
          <a:xfrm>
            <a:off x="822960" y="1051560"/>
            <a:ext cx="8686800" cy="699008"/>
          </a:xfrm>
          <a:prstGeom prst="rect">
            <a:avLst/>
          </a:prstGeom>
          <a:noFill/>
          <a:ln/>
        </p:spPr>
        <p:txBody>
          <a:bodyPr wrap="square" lIns="0" tIns="0" rIns="0" bIns="0" rtlCol="0" anchor="t"/>
          <a:lstStyle/>
          <a:p>
            <a:pPr indent="0" marL="0">
              <a:lnSpc>
                <a:spcPts val="4640"/>
              </a:lnSpc>
              <a:buNone/>
            </a:pPr>
            <a:r>
              <a:rPr lang="en-US" sz="3200" b="1" dirty="0">
                <a:solidFill>
                  <a:srgbClr val="E8EDE7"/>
                </a:solidFill>
                <a:latin typeface="Yu Mincho" pitchFamily="34" charset="0"/>
                <a:ea typeface="Yu Mincho" pitchFamily="34" charset="-122"/>
                <a:cs typeface="Yu Mincho" pitchFamily="34" charset="-120"/>
              </a:rPr>
              <a:t>竹林は、いま静かに広がっている。</a:t>
            </a:r>
            <a:endParaRPr lang="en-US" sz="3200" dirty="0"/>
          </a:p>
        </p:txBody>
      </p:sp>
      <p:sp>
        <p:nvSpPr>
          <p:cNvPr id="4" name="Text 2"/>
          <p:cNvSpPr/>
          <p:nvPr/>
        </p:nvSpPr>
        <p:spPr>
          <a:xfrm>
            <a:off x="822960" y="2286000"/>
            <a:ext cx="9601200" cy="914400"/>
          </a:xfrm>
          <a:prstGeom prst="rect">
            <a:avLst/>
          </a:prstGeom>
          <a:noFill/>
          <a:ln/>
        </p:spPr>
        <p:txBody>
          <a:bodyPr wrap="square" lIns="0" tIns="0" rIns="0" bIns="0" rtlCol="0" anchor="t"/>
          <a:lstStyle/>
          <a:p>
            <a:pPr indent="0" marL="0">
              <a:lnSpc>
                <a:spcPts val="2683"/>
              </a:lnSpc>
              <a:buNone/>
            </a:pPr>
            <a:r>
              <a:rPr lang="en-US" sz="1450" dirty="0">
                <a:solidFill>
                  <a:srgbClr val="E8EDE7"/>
                </a:solidFill>
                <a:latin typeface="Yu Gothic" pitchFamily="34" charset="0"/>
                <a:ea typeface="Yu Gothic" pitchFamily="34" charset="-122"/>
                <a:cs typeface="Yu Gothic" pitchFamily="34" charset="-120"/>
              </a:rPr>
              <a:t>プラスチックが竹の道具に取って代わり、竹材も筍も輸入に頼るようになりました。</a:t>
            </a:r>
            <a:endParaRPr lang="en-US" sz="1450" dirty="0"/>
          </a:p>
          <a:p>
            <a:pPr indent="0" marL="0">
              <a:lnSpc>
                <a:spcPts val="2683"/>
              </a:lnSpc>
              <a:buNone/>
            </a:pPr>
            <a:r>
              <a:rPr lang="en-US" sz="1450" dirty="0">
                <a:solidFill>
                  <a:srgbClr val="E8EDE7"/>
                </a:solidFill>
                <a:latin typeface="Yu Gothic" pitchFamily="34" charset="0"/>
                <a:ea typeface="Yu Gothic" pitchFamily="34" charset="-122"/>
                <a:cs typeface="Yu Gothic" pitchFamily="34" charset="-120"/>
              </a:rPr>
              <a:t>使われなくなった竹林は、誰も伐らないまま残されています。</a:t>
            </a:r>
            <a:endParaRPr lang="en-US" sz="1450" dirty="0"/>
          </a:p>
        </p:txBody>
      </p:sp>
      <p:sp>
        <p:nvSpPr>
          <p:cNvPr id="5" name="Shape 3"/>
          <p:cNvSpPr/>
          <p:nvPr/>
        </p:nvSpPr>
        <p:spPr>
          <a:xfrm>
            <a:off x="822960" y="3520440"/>
            <a:ext cx="3246120" cy="1874520"/>
          </a:xfrm>
          <a:prstGeom prst="roundRect">
            <a:avLst>
              <a:gd name="adj" fmla="val 3902"/>
            </a:avLst>
          </a:prstGeom>
          <a:solidFill>
            <a:srgbClr val="E8EDE7">
              <a:alpha val="8000"/>
            </a:srgbClr>
          </a:solidFill>
          <a:ln w="9525">
            <a:solidFill>
              <a:srgbClr val="E8EDE7">
                <a:alpha val="18000"/>
              </a:srgbClr>
            </a:solidFill>
            <a:prstDash val="solid"/>
          </a:ln>
        </p:spPr>
      </p:sp>
      <p:sp>
        <p:nvSpPr>
          <p:cNvPr id="6" name="Text 4"/>
          <p:cNvSpPr/>
          <p:nvPr/>
        </p:nvSpPr>
        <p:spPr>
          <a:xfrm>
            <a:off x="1143000" y="3794760"/>
            <a:ext cx="2651760" cy="685800"/>
          </a:xfrm>
          <a:prstGeom prst="rect">
            <a:avLst/>
          </a:prstGeom>
          <a:noFill/>
          <a:ln/>
        </p:spPr>
        <p:txBody>
          <a:bodyPr wrap="square" lIns="0" tIns="0" rIns="0" bIns="0" rtlCol="0" anchor="ctr"/>
          <a:lstStyle/>
          <a:p>
            <a:pPr indent="0" marL="0">
              <a:buNone/>
            </a:pPr>
            <a:r>
              <a:rPr lang="en-US" sz="3800" b="1" dirty="0">
                <a:solidFill>
                  <a:srgbClr val="C8A96E"/>
                </a:solidFill>
                <a:latin typeface="Yu Gothic" pitchFamily="34" charset="0"/>
                <a:ea typeface="Yu Gothic" pitchFamily="34" charset="-122"/>
                <a:cs typeface="Yu Gothic" pitchFamily="34" charset="-120"/>
              </a:rPr>
              <a:t>16.7</a:t>
            </a:r>
            <a:pPr indent="0" marL="0">
              <a:buNone/>
            </a:pPr>
            <a:r>
              <a:rPr lang="en-US" sz="1500" dirty="0">
                <a:solidFill>
                  <a:srgbClr val="C8A96E"/>
                </a:solidFill>
                <a:latin typeface="Yu Gothic" pitchFamily="34" charset="0"/>
                <a:ea typeface="Yu Gothic" pitchFamily="34" charset="-122"/>
                <a:cs typeface="Yu Gothic" pitchFamily="34" charset="-120"/>
              </a:rPr>
              <a:t>  万 ha</a:t>
            </a:r>
            <a:endParaRPr lang="en-US" sz="3800" dirty="0"/>
          </a:p>
        </p:txBody>
      </p:sp>
      <p:sp>
        <p:nvSpPr>
          <p:cNvPr id="7" name="Text 5"/>
          <p:cNvSpPr/>
          <p:nvPr/>
        </p:nvSpPr>
        <p:spPr>
          <a:xfrm>
            <a:off x="1143000" y="4617720"/>
            <a:ext cx="2651760" cy="548640"/>
          </a:xfrm>
          <a:prstGeom prst="rect">
            <a:avLst/>
          </a:prstGeom>
          <a:noFill/>
          <a:ln/>
        </p:spPr>
        <p:txBody>
          <a:bodyPr wrap="square" lIns="0" tIns="0" rIns="0" bIns="0" rtlCol="0" anchor="ctr"/>
          <a:lstStyle/>
          <a:p>
            <a:pPr indent="0" marL="0">
              <a:lnSpc>
                <a:spcPts val="2000"/>
              </a:lnSpc>
              <a:buNone/>
            </a:pPr>
            <a:r>
              <a:rPr lang="en-US" sz="1250" dirty="0">
                <a:solidFill>
                  <a:srgbClr val="E8EDE7"/>
                </a:solidFill>
                <a:latin typeface="Yu Gothic" pitchFamily="34" charset="0"/>
                <a:ea typeface="Yu Gothic" pitchFamily="34" charset="-122"/>
                <a:cs typeface="Yu Gothic" pitchFamily="34" charset="-120"/>
              </a:rPr>
              <a:t>全国の竹林面積（2017年）</a:t>
            </a:r>
            <a:endParaRPr lang="en-US" sz="1250" dirty="0"/>
          </a:p>
        </p:txBody>
      </p:sp>
      <p:sp>
        <p:nvSpPr>
          <p:cNvPr id="8" name="Shape 6"/>
          <p:cNvSpPr/>
          <p:nvPr/>
        </p:nvSpPr>
        <p:spPr>
          <a:xfrm>
            <a:off x="4434840" y="3520440"/>
            <a:ext cx="3246120" cy="1874520"/>
          </a:xfrm>
          <a:prstGeom prst="roundRect">
            <a:avLst>
              <a:gd name="adj" fmla="val 3902"/>
            </a:avLst>
          </a:prstGeom>
          <a:solidFill>
            <a:srgbClr val="E8EDE7">
              <a:alpha val="8000"/>
            </a:srgbClr>
          </a:solidFill>
          <a:ln w="9525">
            <a:solidFill>
              <a:srgbClr val="E8EDE7">
                <a:alpha val="18000"/>
              </a:srgbClr>
            </a:solidFill>
            <a:prstDash val="solid"/>
          </a:ln>
        </p:spPr>
      </p:sp>
      <p:sp>
        <p:nvSpPr>
          <p:cNvPr id="9" name="Text 7"/>
          <p:cNvSpPr/>
          <p:nvPr/>
        </p:nvSpPr>
        <p:spPr>
          <a:xfrm>
            <a:off x="4754880" y="3794760"/>
            <a:ext cx="2651760" cy="685800"/>
          </a:xfrm>
          <a:prstGeom prst="rect">
            <a:avLst/>
          </a:prstGeom>
          <a:noFill/>
          <a:ln/>
        </p:spPr>
        <p:txBody>
          <a:bodyPr wrap="square" lIns="0" tIns="0" rIns="0" bIns="0" rtlCol="0" anchor="ctr"/>
          <a:lstStyle/>
          <a:p>
            <a:pPr indent="0" marL="0">
              <a:buNone/>
            </a:pPr>
            <a:r>
              <a:rPr lang="en-US" sz="3800" b="1" dirty="0">
                <a:solidFill>
                  <a:srgbClr val="C8A96E"/>
                </a:solidFill>
                <a:latin typeface="Yu Gothic" pitchFamily="34" charset="0"/>
                <a:ea typeface="Yu Gothic" pitchFamily="34" charset="-122"/>
                <a:cs typeface="Yu Gothic" pitchFamily="34" charset="-120"/>
              </a:rPr>
              <a:t>+5,300</a:t>
            </a:r>
            <a:pPr indent="0" marL="0">
              <a:buNone/>
            </a:pPr>
            <a:r>
              <a:rPr lang="en-US" sz="1500" dirty="0">
                <a:solidFill>
                  <a:srgbClr val="C8A96E"/>
                </a:solidFill>
                <a:latin typeface="Yu Gothic" pitchFamily="34" charset="0"/>
                <a:ea typeface="Yu Gothic" pitchFamily="34" charset="-122"/>
                <a:cs typeface="Yu Gothic" pitchFamily="34" charset="-120"/>
              </a:rPr>
              <a:t>  ha</a:t>
            </a:r>
            <a:endParaRPr lang="en-US" sz="3800" dirty="0"/>
          </a:p>
        </p:txBody>
      </p:sp>
      <p:sp>
        <p:nvSpPr>
          <p:cNvPr id="10" name="Text 8"/>
          <p:cNvSpPr/>
          <p:nvPr/>
        </p:nvSpPr>
        <p:spPr>
          <a:xfrm>
            <a:off x="4754880" y="4617720"/>
            <a:ext cx="2651760" cy="548640"/>
          </a:xfrm>
          <a:prstGeom prst="rect">
            <a:avLst/>
          </a:prstGeom>
          <a:noFill/>
          <a:ln/>
        </p:spPr>
        <p:txBody>
          <a:bodyPr wrap="square" lIns="0" tIns="0" rIns="0" bIns="0" rtlCol="0" anchor="ctr"/>
          <a:lstStyle/>
          <a:p>
            <a:pPr indent="0" marL="0">
              <a:lnSpc>
                <a:spcPts val="2000"/>
              </a:lnSpc>
              <a:buNone/>
            </a:pPr>
            <a:r>
              <a:rPr lang="en-US" sz="1250" dirty="0">
                <a:solidFill>
                  <a:srgbClr val="E8EDE7"/>
                </a:solidFill>
                <a:latin typeface="Yu Gothic" pitchFamily="34" charset="0"/>
                <a:ea typeface="Yu Gothic" pitchFamily="34" charset="-122"/>
                <a:cs typeface="Yu Gothic" pitchFamily="34" charset="-120"/>
              </a:rPr>
              <a:t>直近 5 年間の増加分</a:t>
            </a:r>
            <a:endParaRPr lang="en-US" sz="1250" dirty="0"/>
          </a:p>
        </p:txBody>
      </p:sp>
      <p:sp>
        <p:nvSpPr>
          <p:cNvPr id="11" name="Shape 9"/>
          <p:cNvSpPr/>
          <p:nvPr/>
        </p:nvSpPr>
        <p:spPr>
          <a:xfrm>
            <a:off x="8046720" y="3520440"/>
            <a:ext cx="3246120" cy="1874520"/>
          </a:xfrm>
          <a:prstGeom prst="roundRect">
            <a:avLst>
              <a:gd name="adj" fmla="val 3902"/>
            </a:avLst>
          </a:prstGeom>
          <a:solidFill>
            <a:srgbClr val="E8EDE7">
              <a:alpha val="8000"/>
            </a:srgbClr>
          </a:solidFill>
          <a:ln w="9525">
            <a:solidFill>
              <a:srgbClr val="E8EDE7">
                <a:alpha val="18000"/>
              </a:srgbClr>
            </a:solidFill>
            <a:prstDash val="solid"/>
          </a:ln>
        </p:spPr>
      </p:sp>
      <p:sp>
        <p:nvSpPr>
          <p:cNvPr id="12" name="Text 10"/>
          <p:cNvSpPr/>
          <p:nvPr/>
        </p:nvSpPr>
        <p:spPr>
          <a:xfrm>
            <a:off x="8366760" y="3794760"/>
            <a:ext cx="2651760" cy="685800"/>
          </a:xfrm>
          <a:prstGeom prst="rect">
            <a:avLst/>
          </a:prstGeom>
          <a:noFill/>
          <a:ln/>
        </p:spPr>
        <p:txBody>
          <a:bodyPr wrap="square" lIns="0" tIns="0" rIns="0" bIns="0" rtlCol="0" anchor="ctr"/>
          <a:lstStyle/>
          <a:p>
            <a:pPr indent="0" marL="0">
              <a:buNone/>
            </a:pPr>
            <a:r>
              <a:rPr lang="en-US" sz="3800" b="1" dirty="0">
                <a:solidFill>
                  <a:srgbClr val="C8A96E"/>
                </a:solidFill>
                <a:latin typeface="Yu Gothic" pitchFamily="34" charset="0"/>
                <a:ea typeface="Yu Gothic" pitchFamily="34" charset="-122"/>
                <a:cs typeface="Yu Gothic" pitchFamily="34" charset="-120"/>
              </a:rPr>
              <a:t>1〜3</a:t>
            </a:r>
            <a:pPr indent="0" marL="0">
              <a:buNone/>
            </a:pPr>
            <a:r>
              <a:rPr lang="en-US" sz="1500" dirty="0">
                <a:solidFill>
                  <a:srgbClr val="C8A96E"/>
                </a:solidFill>
                <a:latin typeface="Yu Gothic" pitchFamily="34" charset="0"/>
                <a:ea typeface="Yu Gothic" pitchFamily="34" charset="-122"/>
                <a:cs typeface="Yu Gothic" pitchFamily="34" charset="-120"/>
              </a:rPr>
              <a:t>  m / 年</a:t>
            </a:r>
            <a:endParaRPr lang="en-US" sz="3800" dirty="0"/>
          </a:p>
        </p:txBody>
      </p:sp>
      <p:sp>
        <p:nvSpPr>
          <p:cNvPr id="13" name="Text 11"/>
          <p:cNvSpPr/>
          <p:nvPr/>
        </p:nvSpPr>
        <p:spPr>
          <a:xfrm>
            <a:off x="8366760" y="4617720"/>
            <a:ext cx="2651760" cy="548640"/>
          </a:xfrm>
          <a:prstGeom prst="rect">
            <a:avLst/>
          </a:prstGeom>
          <a:noFill/>
          <a:ln/>
        </p:spPr>
        <p:txBody>
          <a:bodyPr wrap="square" lIns="0" tIns="0" rIns="0" bIns="0" rtlCol="0" anchor="ctr"/>
          <a:lstStyle/>
          <a:p>
            <a:pPr indent="0" marL="0">
              <a:lnSpc>
                <a:spcPts val="2000"/>
              </a:lnSpc>
              <a:buNone/>
            </a:pPr>
            <a:r>
              <a:rPr lang="en-US" sz="1250" dirty="0">
                <a:solidFill>
                  <a:srgbClr val="E8EDE7"/>
                </a:solidFill>
                <a:latin typeface="Yu Gothic" pitchFamily="34" charset="0"/>
                <a:ea typeface="Yu Gothic" pitchFamily="34" charset="-122"/>
                <a:cs typeface="Yu Gothic" pitchFamily="34" charset="-120"/>
              </a:rPr>
              <a:t>周囲の森へ広がる速さ</a:t>
            </a:r>
            <a:endParaRPr lang="en-US" sz="1250" dirty="0"/>
          </a:p>
        </p:txBody>
      </p:sp>
      <p:sp>
        <p:nvSpPr>
          <p:cNvPr id="14" name="Text 12"/>
          <p:cNvSpPr/>
          <p:nvPr/>
        </p:nvSpPr>
        <p:spPr>
          <a:xfrm>
            <a:off x="822960" y="5806440"/>
            <a:ext cx="10515600" cy="320040"/>
          </a:xfrm>
          <a:prstGeom prst="rect">
            <a:avLst/>
          </a:prstGeom>
          <a:noFill/>
          <a:ln/>
        </p:spPr>
        <p:txBody>
          <a:bodyPr wrap="square" lIns="0" tIns="0" rIns="0" bIns="0" rtlCol="0" anchor="ctr"/>
          <a:lstStyle/>
          <a:p>
            <a:pPr indent="0" marL="0">
              <a:buNone/>
            </a:pPr>
            <a:r>
              <a:rPr lang="en-US" sz="1050" dirty="0">
                <a:solidFill>
                  <a:srgbClr val="7A8C76"/>
                </a:solidFill>
                <a:latin typeface="Yu Gothic" pitchFamily="34" charset="0"/>
                <a:ea typeface="Yu Gothic" pitchFamily="34" charset="-122"/>
                <a:cs typeface="Yu Gothic" pitchFamily="34" charset="-120"/>
              </a:rPr>
              <a:t>出典：農林水産省／林野庁「森林・林業統計要覧」、nippon.com「農林業にも影響を及ぼす放置竹林」</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8F6"/>
        </a:solidFill>
      </p:bgPr>
    </p:bg>
    <p:spTree>
      <p:nvGrpSpPr>
        <p:cNvPr id="1" name=""/>
        <p:cNvGrpSpPr/>
        <p:nvPr/>
      </p:nvGrpSpPr>
      <p:grpSpPr>
        <a:xfrm>
          <a:off x="0" y="0"/>
          <a:ext cx="0" cy="0"/>
          <a:chOff x="0" y="0"/>
          <a:chExt cx="0" cy="0"/>
        </a:xfrm>
      </p:grpSpPr>
      <p:pic>
        <p:nvPicPr>
          <p:cNvPr id="2" name="Image 0" descr="/tmp/claude-0/-home-user-bamboo-hp/ff9834b5-0209-5f50-8799-4952c8f99085/scratchpad/img/work.jpg">    </p:cNvPr>
          <p:cNvPicPr>
            <a:picLocks noChangeAspect="1"/>
          </p:cNvPicPr>
          <p:nvPr/>
        </p:nvPicPr>
        <p:blipFill>
          <a:blip r:embed="rId1"/>
          <a:srcRect l="0" r="0" t="0" b="0"/>
          <a:stretch/>
        </p:blipFill>
        <p:spPr>
          <a:xfrm>
            <a:off x="0" y="0"/>
            <a:ext cx="5760720" cy="6858000"/>
          </a:xfrm>
          <a:prstGeom prst="rect">
            <a:avLst/>
          </a:prstGeom>
        </p:spPr>
      </p:pic>
      <p:sp>
        <p:nvSpPr>
          <p:cNvPr id="3" name="Text 0"/>
          <p:cNvSpPr/>
          <p:nvPr/>
        </p:nvSpPr>
        <p:spPr>
          <a:xfrm>
            <a:off x="6492240" y="1371600"/>
            <a:ext cx="4937760" cy="256032"/>
          </a:xfrm>
          <a:prstGeom prst="rect">
            <a:avLst/>
          </a:prstGeom>
          <a:noFill/>
          <a:ln/>
        </p:spPr>
        <p:txBody>
          <a:bodyPr wrap="square" lIns="0" tIns="0" rIns="0" bIns="0" rtlCol="0" anchor="ctr"/>
          <a:lstStyle/>
          <a:p>
            <a:pPr indent="0" marL="0">
              <a:buNone/>
            </a:pPr>
            <a:r>
              <a:rPr lang="en-US" sz="1100" spc="300" kern="0" dirty="0">
                <a:solidFill>
                  <a:srgbClr val="C8A96E"/>
                </a:solidFill>
                <a:latin typeface="Cambria" pitchFamily="34" charset="0"/>
                <a:ea typeface="Cambria" pitchFamily="34" charset="-122"/>
                <a:cs typeface="Cambria" pitchFamily="34" charset="-120"/>
              </a:rPr>
              <a:t>T H E   W O R K</a:t>
            </a:r>
            <a:endParaRPr lang="en-US" sz="1100" dirty="0"/>
          </a:p>
        </p:txBody>
      </p:sp>
      <p:sp>
        <p:nvSpPr>
          <p:cNvPr id="4" name="Text 1"/>
          <p:cNvSpPr/>
          <p:nvPr/>
        </p:nvSpPr>
        <p:spPr>
          <a:xfrm>
            <a:off x="6492240" y="1737360"/>
            <a:ext cx="4937760" cy="1288288"/>
          </a:xfrm>
          <a:prstGeom prst="rect">
            <a:avLst/>
          </a:prstGeom>
          <a:noFill/>
          <a:ln/>
        </p:spPr>
        <p:txBody>
          <a:bodyPr wrap="square" lIns="0" tIns="0" rIns="0" bIns="0" rtlCol="0" anchor="t"/>
          <a:lstStyle/>
          <a:p>
            <a:pPr indent="0" marL="0">
              <a:lnSpc>
                <a:spcPts val="4640"/>
              </a:lnSpc>
              <a:buNone/>
            </a:pPr>
            <a:r>
              <a:rPr lang="en-US" sz="3200" b="1" dirty="0">
                <a:solidFill>
                  <a:srgbClr val="2C362A"/>
                </a:solidFill>
                <a:latin typeface="Yu Mincho" pitchFamily="34" charset="0"/>
                <a:ea typeface="Yu Mincho" pitchFamily="34" charset="-122"/>
                <a:cs typeface="Yu Mincho" pitchFamily="34" charset="-120"/>
              </a:rPr>
              <a:t>伐る。掘る。焼く。</a:t>
            </a:r>
            <a:endParaRPr lang="en-US" sz="3200" dirty="0"/>
          </a:p>
          <a:p>
            <a:pPr indent="0" marL="0">
              <a:lnSpc>
                <a:spcPts val="4640"/>
              </a:lnSpc>
              <a:buNone/>
            </a:pPr>
            <a:r>
              <a:rPr lang="en-US" sz="3200" b="1" dirty="0">
                <a:solidFill>
                  <a:srgbClr val="2C362A"/>
                </a:solidFill>
                <a:latin typeface="Yu Mincho" pitchFamily="34" charset="0"/>
                <a:ea typeface="Yu Mincho" pitchFamily="34" charset="-122"/>
                <a:cs typeface="Yu Mincho" pitchFamily="34" charset="-120"/>
              </a:rPr>
              <a:t>そして、座る。</a:t>
            </a:r>
            <a:endParaRPr lang="en-US" sz="3200" dirty="0"/>
          </a:p>
        </p:txBody>
      </p:sp>
      <p:sp>
        <p:nvSpPr>
          <p:cNvPr id="5" name="Text 2"/>
          <p:cNvSpPr/>
          <p:nvPr/>
        </p:nvSpPr>
        <p:spPr>
          <a:xfrm>
            <a:off x="6492240" y="3657600"/>
            <a:ext cx="4937760" cy="2468880"/>
          </a:xfrm>
          <a:prstGeom prst="rect">
            <a:avLst/>
          </a:prstGeom>
          <a:noFill/>
          <a:ln/>
        </p:spPr>
        <p:txBody>
          <a:bodyPr wrap="square" lIns="0" tIns="0" rIns="0" bIns="0" rtlCol="0" anchor="t"/>
          <a:lstStyle/>
          <a:p>
            <a:pPr indent="0" marL="0">
              <a:lnSpc>
                <a:spcPts val="2683"/>
              </a:lnSpc>
              <a:buNone/>
            </a:pPr>
            <a:r>
              <a:rPr lang="en-US" sz="1450" dirty="0">
                <a:solidFill>
                  <a:srgbClr val="3A4438"/>
                </a:solidFill>
                <a:latin typeface="Yu Gothic" pitchFamily="34" charset="0"/>
                <a:ea typeface="Yu Gothic" pitchFamily="34" charset="-122"/>
                <a:cs typeface="Yu Gothic" pitchFamily="34" charset="-120"/>
              </a:rPr>
              <a:t>竹林の手入れは、体を使う仕事です。</a:t>
            </a:r>
            <a:endParaRPr lang="en-US" sz="1450" dirty="0"/>
          </a:p>
          <a:p>
            <a:pPr indent="0" marL="0">
              <a:lnSpc>
                <a:spcPts val="2683"/>
              </a:lnSpc>
              <a:buNone/>
            </a:pPr>
            <a:r>
              <a:rPr lang="en-US" sz="1450" dirty="0">
                <a:solidFill>
                  <a:srgbClr val="3A4438"/>
                </a:solidFill>
                <a:latin typeface="Yu Gothic" pitchFamily="34" charset="0"/>
                <a:ea typeface="Yu Gothic" pitchFamily="34" charset="-122"/>
                <a:cs typeface="Yu Gothic" pitchFamily="34" charset="-120"/>
              </a:rPr>
              <a:t>けれど、来てくれた人がいちばん長く過ごすのは、</a:t>
            </a:r>
            <a:endParaRPr lang="en-US" sz="1450" dirty="0"/>
          </a:p>
          <a:p>
            <a:pPr indent="0" marL="0">
              <a:lnSpc>
                <a:spcPts val="2683"/>
              </a:lnSpc>
              <a:buNone/>
            </a:pPr>
            <a:r>
              <a:rPr lang="en-US" sz="1450" dirty="0">
                <a:solidFill>
                  <a:srgbClr val="3A4438"/>
                </a:solidFill>
                <a:latin typeface="Yu Gothic" pitchFamily="34" charset="0"/>
                <a:ea typeface="Yu Gothic" pitchFamily="34" charset="-122"/>
                <a:cs typeface="Yu Gothic" pitchFamily="34" charset="-120"/>
              </a:rPr>
              <a:t>作業の合間の、何もしていない時間でした。</a:t>
            </a:r>
            <a:endParaRPr lang="en-US" sz="1450" dirty="0"/>
          </a:p>
          <a:p>
            <a:pPr indent="0" marL="0">
              <a:lnSpc>
                <a:spcPts val="2683"/>
              </a:lnSpc>
              <a:buNone/>
            </a:pPr>
            <a:endParaRPr lang="en-US" sz="1450" dirty="0"/>
          </a:p>
          <a:p>
            <a:pPr indent="0" marL="0">
              <a:lnSpc>
                <a:spcPts val="2683"/>
              </a:lnSpc>
              <a:buNone/>
            </a:pPr>
            <a:r>
              <a:rPr lang="en-US" sz="1450" dirty="0">
                <a:solidFill>
                  <a:srgbClr val="3A4438"/>
                </a:solidFill>
                <a:latin typeface="Yu Gothic" pitchFamily="34" charset="0"/>
                <a:ea typeface="Yu Gothic" pitchFamily="34" charset="-122"/>
                <a:cs typeface="Yu Gothic" pitchFamily="34" charset="-120"/>
              </a:rPr>
              <a:t>竹を伐りに来たはずの人が、</a:t>
            </a:r>
            <a:endParaRPr lang="en-US" sz="1450" dirty="0"/>
          </a:p>
          <a:p>
            <a:pPr indent="0" marL="0">
              <a:lnSpc>
                <a:spcPts val="2683"/>
              </a:lnSpc>
              <a:buNone/>
            </a:pPr>
            <a:r>
              <a:rPr lang="en-US" sz="1450" dirty="0">
                <a:solidFill>
                  <a:srgbClr val="3A4438"/>
                </a:solidFill>
                <a:latin typeface="Yu Gothic" pitchFamily="34" charset="0"/>
                <a:ea typeface="Yu Gothic" pitchFamily="34" charset="-122"/>
                <a:cs typeface="Yu Gothic" pitchFamily="34" charset="-120"/>
              </a:rPr>
              <a:t>気づくと何も考えずに座っている。</a:t>
            </a:r>
            <a:endParaRPr lang="en-US" sz="1450" dirty="0"/>
          </a:p>
          <a:p>
            <a:pPr indent="0" marL="0">
              <a:lnSpc>
                <a:spcPts val="2683"/>
              </a:lnSpc>
              <a:buNone/>
            </a:pPr>
            <a:r>
              <a:rPr lang="en-US" sz="1450" dirty="0">
                <a:solidFill>
                  <a:srgbClr val="3A4438"/>
                </a:solidFill>
                <a:latin typeface="Yu Gothic" pitchFamily="34" charset="0"/>
                <a:ea typeface="Yu Gothic" pitchFamily="34" charset="-122"/>
                <a:cs typeface="Yu Gothic" pitchFamily="34" charset="-120"/>
              </a:rPr>
              <a:t>それでいいと思っています。</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8F6"/>
        </a:solidFill>
      </p:bgPr>
    </p:bg>
    <p:spTree>
      <p:nvGrpSpPr>
        <p:cNvPr id="1" name=""/>
        <p:cNvGrpSpPr/>
        <p:nvPr/>
      </p:nvGrpSpPr>
      <p:grpSpPr>
        <a:xfrm>
          <a:off x="0" y="0"/>
          <a:ext cx="0" cy="0"/>
          <a:chOff x="0" y="0"/>
          <a:chExt cx="0" cy="0"/>
        </a:xfrm>
      </p:grpSpPr>
      <p:sp>
        <p:nvSpPr>
          <p:cNvPr id="2" name="Text 0"/>
          <p:cNvSpPr/>
          <p:nvPr/>
        </p:nvSpPr>
        <p:spPr>
          <a:xfrm>
            <a:off x="822960" y="731520"/>
            <a:ext cx="5486400" cy="256032"/>
          </a:xfrm>
          <a:prstGeom prst="rect">
            <a:avLst/>
          </a:prstGeom>
          <a:noFill/>
          <a:ln/>
        </p:spPr>
        <p:txBody>
          <a:bodyPr wrap="square" lIns="0" tIns="0" rIns="0" bIns="0" rtlCol="0" anchor="ctr"/>
          <a:lstStyle/>
          <a:p>
            <a:pPr indent="0" marL="0">
              <a:buNone/>
            </a:pPr>
            <a:r>
              <a:rPr lang="en-US" sz="1100" spc="300" kern="0" dirty="0">
                <a:solidFill>
                  <a:srgbClr val="C8A96E"/>
                </a:solidFill>
                <a:latin typeface="Cambria" pitchFamily="34" charset="0"/>
                <a:ea typeface="Cambria" pitchFamily="34" charset="-122"/>
                <a:cs typeface="Cambria" pitchFamily="34" charset="-120"/>
              </a:rPr>
              <a:t>H O W</a:t>
            </a:r>
            <a:endParaRPr lang="en-US" sz="1100" dirty="0"/>
          </a:p>
        </p:txBody>
      </p:sp>
      <p:sp>
        <p:nvSpPr>
          <p:cNvPr id="3" name="Text 1"/>
          <p:cNvSpPr/>
          <p:nvPr/>
        </p:nvSpPr>
        <p:spPr>
          <a:xfrm>
            <a:off x="822960" y="1097280"/>
            <a:ext cx="5303520" cy="1288288"/>
          </a:xfrm>
          <a:prstGeom prst="rect">
            <a:avLst/>
          </a:prstGeom>
          <a:noFill/>
          <a:ln/>
        </p:spPr>
        <p:txBody>
          <a:bodyPr wrap="square" lIns="0" tIns="0" rIns="0" bIns="0" rtlCol="0" anchor="t"/>
          <a:lstStyle/>
          <a:p>
            <a:pPr indent="0" marL="0">
              <a:lnSpc>
                <a:spcPts val="4640"/>
              </a:lnSpc>
              <a:buNone/>
            </a:pPr>
            <a:r>
              <a:rPr lang="en-US" sz="3200" b="1" dirty="0">
                <a:solidFill>
                  <a:srgbClr val="2C362A"/>
                </a:solidFill>
                <a:latin typeface="Yu Mincho" pitchFamily="34" charset="0"/>
                <a:ea typeface="Yu Mincho" pitchFamily="34" charset="-122"/>
                <a:cs typeface="Yu Mincho" pitchFamily="34" charset="-120"/>
              </a:rPr>
              <a:t>終わりのない円を、</a:t>
            </a:r>
            <a:endParaRPr lang="en-US" sz="3200" dirty="0"/>
          </a:p>
          <a:p>
            <a:pPr indent="0" marL="0">
              <a:lnSpc>
                <a:spcPts val="4640"/>
              </a:lnSpc>
              <a:buNone/>
            </a:pPr>
            <a:r>
              <a:rPr lang="en-US" sz="3200" b="1" dirty="0">
                <a:solidFill>
                  <a:srgbClr val="2C362A"/>
                </a:solidFill>
                <a:latin typeface="Yu Mincho" pitchFamily="34" charset="0"/>
                <a:ea typeface="Yu Mincho" pitchFamily="34" charset="-122"/>
                <a:cs typeface="Yu Mincho" pitchFamily="34" charset="-120"/>
              </a:rPr>
              <a:t>まわし続ける。</a:t>
            </a:r>
            <a:endParaRPr lang="en-US" sz="3200" dirty="0"/>
          </a:p>
        </p:txBody>
      </p:sp>
      <p:sp>
        <p:nvSpPr>
          <p:cNvPr id="4" name="Text 2"/>
          <p:cNvSpPr/>
          <p:nvPr/>
        </p:nvSpPr>
        <p:spPr>
          <a:xfrm>
            <a:off x="822960" y="3200400"/>
            <a:ext cx="5303520" cy="2377440"/>
          </a:xfrm>
          <a:prstGeom prst="rect">
            <a:avLst/>
          </a:prstGeom>
          <a:noFill/>
          <a:ln/>
        </p:spPr>
        <p:txBody>
          <a:bodyPr wrap="square" lIns="0" tIns="0" rIns="0" bIns="0" rtlCol="0" anchor="t"/>
          <a:lstStyle/>
          <a:p>
            <a:pPr indent="0" marL="0">
              <a:lnSpc>
                <a:spcPts val="2683"/>
              </a:lnSpc>
              <a:buNone/>
            </a:pPr>
            <a:r>
              <a:rPr lang="en-US" sz="1450" dirty="0">
                <a:solidFill>
                  <a:srgbClr val="3A4438"/>
                </a:solidFill>
                <a:latin typeface="Yu Gothic" pitchFamily="34" charset="0"/>
                <a:ea typeface="Yu Gothic" pitchFamily="34" charset="-122"/>
                <a:cs typeface="Yu Gothic" pitchFamily="34" charset="-120"/>
              </a:rPr>
              <a:t>竹を伐る。炭に焼く。炭は土に還る。</a:t>
            </a:r>
            <a:endParaRPr lang="en-US" sz="1450" dirty="0"/>
          </a:p>
          <a:p>
            <a:pPr indent="0" marL="0">
              <a:lnSpc>
                <a:spcPts val="2683"/>
              </a:lnSpc>
              <a:buNone/>
            </a:pPr>
            <a:r>
              <a:rPr lang="en-US" sz="1450" dirty="0">
                <a:solidFill>
                  <a:srgbClr val="3A4438"/>
                </a:solidFill>
                <a:latin typeface="Yu Gothic" pitchFamily="34" charset="0"/>
                <a:ea typeface="Yu Gothic" pitchFamily="34" charset="-122"/>
                <a:cs typeface="Yu Gothic" pitchFamily="34" charset="-120"/>
              </a:rPr>
              <a:t>土からまた、たけのこが出る。</a:t>
            </a:r>
            <a:endParaRPr lang="en-US" sz="1450" dirty="0"/>
          </a:p>
          <a:p>
            <a:pPr indent="0" marL="0">
              <a:lnSpc>
                <a:spcPts val="2683"/>
              </a:lnSpc>
              <a:buNone/>
            </a:pPr>
            <a:endParaRPr lang="en-US" sz="1450" dirty="0"/>
          </a:p>
          <a:p>
            <a:pPr indent="0" marL="0">
              <a:lnSpc>
                <a:spcPts val="2683"/>
              </a:lnSpc>
              <a:buNone/>
            </a:pPr>
            <a:r>
              <a:rPr lang="en-US" sz="1450" dirty="0">
                <a:solidFill>
                  <a:srgbClr val="3A4438"/>
                </a:solidFill>
                <a:latin typeface="Yu Gothic" pitchFamily="34" charset="0"/>
                <a:ea typeface="Yu Gothic" pitchFamily="34" charset="-122"/>
                <a:cs typeface="Yu Gothic" pitchFamily="34" charset="-120"/>
              </a:rPr>
              <a:t>だからこそ、一度きりのボランティアでは回りません。</a:t>
            </a:r>
            <a:endParaRPr lang="en-US" sz="1450" dirty="0"/>
          </a:p>
          <a:p>
            <a:pPr indent="0" marL="0">
              <a:lnSpc>
                <a:spcPts val="2683"/>
              </a:lnSpc>
              <a:buNone/>
            </a:pPr>
            <a:r>
              <a:rPr lang="en-US" sz="1450" dirty="0">
                <a:solidFill>
                  <a:srgbClr val="3A4438"/>
                </a:solidFill>
                <a:latin typeface="Yu Gothic" pitchFamily="34" charset="0"/>
                <a:ea typeface="Yu Gothic" pitchFamily="34" charset="-122"/>
                <a:cs typeface="Yu Gothic" pitchFamily="34" charset="-120"/>
              </a:rPr>
              <a:t>毎年、同じ場所に人が戻ってくる仕組みがいる。</a:t>
            </a:r>
            <a:endParaRPr lang="en-US" sz="1450" dirty="0"/>
          </a:p>
          <a:p>
            <a:pPr indent="0" marL="0">
              <a:lnSpc>
                <a:spcPts val="2683"/>
              </a:lnSpc>
              <a:buNone/>
            </a:pPr>
            <a:r>
              <a:rPr lang="en-US" sz="1450" dirty="0">
                <a:solidFill>
                  <a:srgbClr val="3A4438"/>
                </a:solidFill>
                <a:latin typeface="Yu Gothic" pitchFamily="34" charset="0"/>
                <a:ea typeface="Yu Gothic" pitchFamily="34" charset="-122"/>
                <a:cs typeface="Yu Gothic" pitchFamily="34" charset="-120"/>
              </a:rPr>
              <a:t>かすみがうら竹林ベースは、そのための場所です。</a:t>
            </a:r>
            <a:endParaRPr lang="en-US" sz="1450" dirty="0"/>
          </a:p>
        </p:txBody>
      </p:sp>
      <p:sp>
        <p:nvSpPr>
          <p:cNvPr id="5" name="Shape 3"/>
          <p:cNvSpPr/>
          <p:nvPr/>
        </p:nvSpPr>
        <p:spPr>
          <a:xfrm rot="8100000">
            <a:off x="9642807" y="2335833"/>
            <a:ext cx="274320" cy="274320"/>
          </a:xfrm>
          <a:prstGeom prst="triangle">
            <a:avLst/>
          </a:prstGeom>
          <a:solidFill>
            <a:srgbClr val="C8A96E"/>
          </a:solidFill>
          <a:ln w="6350">
            <a:solidFill>
              <a:srgbClr val="C8A96E"/>
            </a:solidFill>
            <a:prstDash val="solid"/>
          </a:ln>
        </p:spPr>
      </p:sp>
      <p:sp>
        <p:nvSpPr>
          <p:cNvPr id="6" name="Shape 4"/>
          <p:cNvSpPr/>
          <p:nvPr/>
        </p:nvSpPr>
        <p:spPr>
          <a:xfrm rot="13500000">
            <a:off x="9642807" y="4430727"/>
            <a:ext cx="274320" cy="274320"/>
          </a:xfrm>
          <a:prstGeom prst="triangle">
            <a:avLst/>
          </a:prstGeom>
          <a:solidFill>
            <a:srgbClr val="C8A96E"/>
          </a:solidFill>
          <a:ln w="6350">
            <a:solidFill>
              <a:srgbClr val="C8A96E"/>
            </a:solidFill>
            <a:prstDash val="solid"/>
          </a:ln>
        </p:spPr>
      </p:sp>
      <p:sp>
        <p:nvSpPr>
          <p:cNvPr id="7" name="Shape 5"/>
          <p:cNvSpPr/>
          <p:nvPr/>
        </p:nvSpPr>
        <p:spPr>
          <a:xfrm rot="18900000">
            <a:off x="7547913" y="4430727"/>
            <a:ext cx="274320" cy="274320"/>
          </a:xfrm>
          <a:prstGeom prst="triangle">
            <a:avLst/>
          </a:prstGeom>
          <a:solidFill>
            <a:srgbClr val="C8A96E"/>
          </a:solidFill>
          <a:ln w="6350">
            <a:solidFill>
              <a:srgbClr val="C8A96E"/>
            </a:solidFill>
            <a:prstDash val="solid"/>
          </a:ln>
        </p:spPr>
      </p:sp>
      <p:sp>
        <p:nvSpPr>
          <p:cNvPr id="8" name="Shape 6"/>
          <p:cNvSpPr/>
          <p:nvPr/>
        </p:nvSpPr>
        <p:spPr>
          <a:xfrm rot="2700000">
            <a:off x="7547913" y="2335833"/>
            <a:ext cx="274320" cy="274320"/>
          </a:xfrm>
          <a:prstGeom prst="triangle">
            <a:avLst/>
          </a:prstGeom>
          <a:solidFill>
            <a:srgbClr val="C8A96E"/>
          </a:solidFill>
          <a:ln w="6350">
            <a:solidFill>
              <a:srgbClr val="C8A96E"/>
            </a:solidFill>
            <a:prstDash val="solid"/>
          </a:ln>
        </p:spPr>
      </p:sp>
      <p:sp>
        <p:nvSpPr>
          <p:cNvPr id="9" name="Shape 7"/>
          <p:cNvSpPr/>
          <p:nvPr/>
        </p:nvSpPr>
        <p:spPr>
          <a:xfrm>
            <a:off x="8046720" y="1353312"/>
            <a:ext cx="1371600" cy="1371600"/>
          </a:xfrm>
          <a:prstGeom prst="ellipse">
            <a:avLst/>
          </a:prstGeom>
          <a:solidFill>
            <a:srgbClr val="F9F8F6"/>
          </a:solidFill>
          <a:ln w="15875">
            <a:solidFill>
              <a:srgbClr val="C8A96E"/>
            </a:solidFill>
            <a:prstDash val="solid"/>
          </a:ln>
        </p:spPr>
      </p:sp>
      <p:sp>
        <p:nvSpPr>
          <p:cNvPr id="10" name="Text 8"/>
          <p:cNvSpPr/>
          <p:nvPr/>
        </p:nvSpPr>
        <p:spPr>
          <a:xfrm>
            <a:off x="8046720" y="1655064"/>
            <a:ext cx="1371600" cy="411480"/>
          </a:xfrm>
          <a:prstGeom prst="rect">
            <a:avLst/>
          </a:prstGeom>
          <a:noFill/>
          <a:ln/>
        </p:spPr>
        <p:txBody>
          <a:bodyPr wrap="square" lIns="0" tIns="0" rIns="0" bIns="0" rtlCol="0" anchor="ctr"/>
          <a:lstStyle/>
          <a:p>
            <a:pPr algn="ctr" indent="0" marL="0">
              <a:buNone/>
            </a:pPr>
            <a:r>
              <a:rPr lang="en-US" sz="1700" b="1" dirty="0">
                <a:solidFill>
                  <a:srgbClr val="2C362A"/>
                </a:solidFill>
                <a:latin typeface="Yu Mincho" pitchFamily="34" charset="0"/>
                <a:ea typeface="Yu Mincho" pitchFamily="34" charset="-122"/>
                <a:cs typeface="Yu Mincho" pitchFamily="34" charset="-120"/>
              </a:rPr>
              <a:t>伐る</a:t>
            </a:r>
            <a:endParaRPr lang="en-US" sz="1700" dirty="0"/>
          </a:p>
        </p:txBody>
      </p:sp>
      <p:sp>
        <p:nvSpPr>
          <p:cNvPr id="11" name="Text 9"/>
          <p:cNvSpPr/>
          <p:nvPr/>
        </p:nvSpPr>
        <p:spPr>
          <a:xfrm>
            <a:off x="8046720" y="2066544"/>
            <a:ext cx="1371600" cy="274320"/>
          </a:xfrm>
          <a:prstGeom prst="rect">
            <a:avLst/>
          </a:prstGeom>
          <a:noFill/>
          <a:ln/>
        </p:spPr>
        <p:txBody>
          <a:bodyPr wrap="square" lIns="0" tIns="0" rIns="0" bIns="0" rtlCol="0" anchor="ctr"/>
          <a:lstStyle/>
          <a:p>
            <a:pPr algn="ctr" indent="0" marL="0">
              <a:buNone/>
            </a:pPr>
            <a:r>
              <a:rPr lang="en-US" sz="850" spc="150" kern="0" dirty="0">
                <a:solidFill>
                  <a:srgbClr val="7A8C76"/>
                </a:solidFill>
                <a:latin typeface="Cambria" pitchFamily="34" charset="0"/>
                <a:ea typeface="Cambria" pitchFamily="34" charset="-122"/>
                <a:cs typeface="Cambria" pitchFamily="34" charset="-120"/>
              </a:rPr>
              <a:t>CUT</a:t>
            </a:r>
            <a:endParaRPr lang="en-US" sz="850" dirty="0"/>
          </a:p>
        </p:txBody>
      </p:sp>
      <p:sp>
        <p:nvSpPr>
          <p:cNvPr id="12" name="Shape 10"/>
          <p:cNvSpPr/>
          <p:nvPr/>
        </p:nvSpPr>
        <p:spPr>
          <a:xfrm>
            <a:off x="9528048" y="2834640"/>
            <a:ext cx="1371600" cy="1371600"/>
          </a:xfrm>
          <a:prstGeom prst="ellipse">
            <a:avLst/>
          </a:prstGeom>
          <a:solidFill>
            <a:srgbClr val="F9F8F6"/>
          </a:solidFill>
          <a:ln w="15875">
            <a:solidFill>
              <a:srgbClr val="C8A96E"/>
            </a:solidFill>
            <a:prstDash val="solid"/>
          </a:ln>
        </p:spPr>
      </p:sp>
      <p:sp>
        <p:nvSpPr>
          <p:cNvPr id="13" name="Text 11"/>
          <p:cNvSpPr/>
          <p:nvPr/>
        </p:nvSpPr>
        <p:spPr>
          <a:xfrm>
            <a:off x="9528048" y="3136392"/>
            <a:ext cx="1371600" cy="411480"/>
          </a:xfrm>
          <a:prstGeom prst="rect">
            <a:avLst/>
          </a:prstGeom>
          <a:noFill/>
          <a:ln/>
        </p:spPr>
        <p:txBody>
          <a:bodyPr wrap="square" lIns="0" tIns="0" rIns="0" bIns="0" rtlCol="0" anchor="ctr"/>
          <a:lstStyle/>
          <a:p>
            <a:pPr algn="ctr" indent="0" marL="0">
              <a:buNone/>
            </a:pPr>
            <a:r>
              <a:rPr lang="en-US" sz="1700" b="1" dirty="0">
                <a:solidFill>
                  <a:srgbClr val="2C362A"/>
                </a:solidFill>
                <a:latin typeface="Yu Mincho" pitchFamily="34" charset="0"/>
                <a:ea typeface="Yu Mincho" pitchFamily="34" charset="-122"/>
                <a:cs typeface="Yu Mincho" pitchFamily="34" charset="-120"/>
              </a:rPr>
              <a:t>焼く</a:t>
            </a:r>
            <a:endParaRPr lang="en-US" sz="1700" dirty="0"/>
          </a:p>
        </p:txBody>
      </p:sp>
      <p:sp>
        <p:nvSpPr>
          <p:cNvPr id="14" name="Text 12"/>
          <p:cNvSpPr/>
          <p:nvPr/>
        </p:nvSpPr>
        <p:spPr>
          <a:xfrm>
            <a:off x="9528048" y="3547872"/>
            <a:ext cx="1371600" cy="274320"/>
          </a:xfrm>
          <a:prstGeom prst="rect">
            <a:avLst/>
          </a:prstGeom>
          <a:noFill/>
          <a:ln/>
        </p:spPr>
        <p:txBody>
          <a:bodyPr wrap="square" lIns="0" tIns="0" rIns="0" bIns="0" rtlCol="0" anchor="ctr"/>
          <a:lstStyle/>
          <a:p>
            <a:pPr algn="ctr" indent="0" marL="0">
              <a:buNone/>
            </a:pPr>
            <a:r>
              <a:rPr lang="en-US" sz="850" spc="150" kern="0" dirty="0">
                <a:solidFill>
                  <a:srgbClr val="7A8C76"/>
                </a:solidFill>
                <a:latin typeface="Cambria" pitchFamily="34" charset="0"/>
                <a:ea typeface="Cambria" pitchFamily="34" charset="-122"/>
                <a:cs typeface="Cambria" pitchFamily="34" charset="-120"/>
              </a:rPr>
              <a:t>CHARCOAL</a:t>
            </a:r>
            <a:endParaRPr lang="en-US" sz="850" dirty="0"/>
          </a:p>
        </p:txBody>
      </p:sp>
      <p:sp>
        <p:nvSpPr>
          <p:cNvPr id="15" name="Shape 13"/>
          <p:cNvSpPr/>
          <p:nvPr/>
        </p:nvSpPr>
        <p:spPr>
          <a:xfrm>
            <a:off x="8046720" y="4315968"/>
            <a:ext cx="1371600" cy="1371600"/>
          </a:xfrm>
          <a:prstGeom prst="ellipse">
            <a:avLst/>
          </a:prstGeom>
          <a:solidFill>
            <a:srgbClr val="F9F8F6"/>
          </a:solidFill>
          <a:ln w="15875">
            <a:solidFill>
              <a:srgbClr val="C8A96E"/>
            </a:solidFill>
            <a:prstDash val="solid"/>
          </a:ln>
        </p:spPr>
      </p:sp>
      <p:sp>
        <p:nvSpPr>
          <p:cNvPr id="16" name="Text 14"/>
          <p:cNvSpPr/>
          <p:nvPr/>
        </p:nvSpPr>
        <p:spPr>
          <a:xfrm>
            <a:off x="8046720" y="4617720"/>
            <a:ext cx="1371600" cy="411480"/>
          </a:xfrm>
          <a:prstGeom prst="rect">
            <a:avLst/>
          </a:prstGeom>
          <a:noFill/>
          <a:ln/>
        </p:spPr>
        <p:txBody>
          <a:bodyPr wrap="square" lIns="0" tIns="0" rIns="0" bIns="0" rtlCol="0" anchor="ctr"/>
          <a:lstStyle/>
          <a:p>
            <a:pPr algn="ctr" indent="0" marL="0">
              <a:buNone/>
            </a:pPr>
            <a:r>
              <a:rPr lang="en-US" sz="1700" b="1" dirty="0">
                <a:solidFill>
                  <a:srgbClr val="2C362A"/>
                </a:solidFill>
                <a:latin typeface="Yu Mincho" pitchFamily="34" charset="0"/>
                <a:ea typeface="Yu Mincho" pitchFamily="34" charset="-122"/>
                <a:cs typeface="Yu Mincho" pitchFamily="34" charset="-120"/>
              </a:rPr>
              <a:t>還る</a:t>
            </a:r>
            <a:endParaRPr lang="en-US" sz="1700" dirty="0"/>
          </a:p>
        </p:txBody>
      </p:sp>
      <p:sp>
        <p:nvSpPr>
          <p:cNvPr id="17" name="Text 15"/>
          <p:cNvSpPr/>
          <p:nvPr/>
        </p:nvSpPr>
        <p:spPr>
          <a:xfrm>
            <a:off x="8046720" y="5029200"/>
            <a:ext cx="1371600" cy="274320"/>
          </a:xfrm>
          <a:prstGeom prst="rect">
            <a:avLst/>
          </a:prstGeom>
          <a:noFill/>
          <a:ln/>
        </p:spPr>
        <p:txBody>
          <a:bodyPr wrap="square" lIns="0" tIns="0" rIns="0" bIns="0" rtlCol="0" anchor="ctr"/>
          <a:lstStyle/>
          <a:p>
            <a:pPr algn="ctr" indent="0" marL="0">
              <a:buNone/>
            </a:pPr>
            <a:r>
              <a:rPr lang="en-US" sz="850" spc="150" kern="0" dirty="0">
                <a:solidFill>
                  <a:srgbClr val="7A8C76"/>
                </a:solidFill>
                <a:latin typeface="Cambria" pitchFamily="34" charset="0"/>
                <a:ea typeface="Cambria" pitchFamily="34" charset="-122"/>
                <a:cs typeface="Cambria" pitchFamily="34" charset="-120"/>
              </a:rPr>
              <a:t>SOIL</a:t>
            </a:r>
            <a:endParaRPr lang="en-US" sz="850" dirty="0"/>
          </a:p>
        </p:txBody>
      </p:sp>
      <p:sp>
        <p:nvSpPr>
          <p:cNvPr id="18" name="Shape 16"/>
          <p:cNvSpPr/>
          <p:nvPr/>
        </p:nvSpPr>
        <p:spPr>
          <a:xfrm>
            <a:off x="6565392" y="2834640"/>
            <a:ext cx="1371600" cy="1371600"/>
          </a:xfrm>
          <a:prstGeom prst="ellipse">
            <a:avLst/>
          </a:prstGeom>
          <a:solidFill>
            <a:srgbClr val="F9F8F6"/>
          </a:solidFill>
          <a:ln w="15875">
            <a:solidFill>
              <a:srgbClr val="C8A96E"/>
            </a:solidFill>
            <a:prstDash val="solid"/>
          </a:ln>
        </p:spPr>
      </p:sp>
      <p:sp>
        <p:nvSpPr>
          <p:cNvPr id="19" name="Text 17"/>
          <p:cNvSpPr/>
          <p:nvPr/>
        </p:nvSpPr>
        <p:spPr>
          <a:xfrm>
            <a:off x="6565392" y="3136392"/>
            <a:ext cx="1371600" cy="411480"/>
          </a:xfrm>
          <a:prstGeom prst="rect">
            <a:avLst/>
          </a:prstGeom>
          <a:noFill/>
          <a:ln/>
        </p:spPr>
        <p:txBody>
          <a:bodyPr wrap="square" lIns="0" tIns="0" rIns="0" bIns="0" rtlCol="0" anchor="ctr"/>
          <a:lstStyle/>
          <a:p>
            <a:pPr algn="ctr" indent="0" marL="0">
              <a:buNone/>
            </a:pPr>
            <a:r>
              <a:rPr lang="en-US" sz="1700" b="1" dirty="0">
                <a:solidFill>
                  <a:srgbClr val="2C362A"/>
                </a:solidFill>
                <a:latin typeface="Yu Mincho" pitchFamily="34" charset="0"/>
                <a:ea typeface="Yu Mincho" pitchFamily="34" charset="-122"/>
                <a:cs typeface="Yu Mincho" pitchFamily="34" charset="-120"/>
              </a:rPr>
              <a:t>萌す</a:t>
            </a:r>
            <a:endParaRPr lang="en-US" sz="1700" dirty="0"/>
          </a:p>
        </p:txBody>
      </p:sp>
      <p:sp>
        <p:nvSpPr>
          <p:cNvPr id="20" name="Text 18"/>
          <p:cNvSpPr/>
          <p:nvPr/>
        </p:nvSpPr>
        <p:spPr>
          <a:xfrm>
            <a:off x="6565392" y="3547872"/>
            <a:ext cx="1371600" cy="274320"/>
          </a:xfrm>
          <a:prstGeom prst="rect">
            <a:avLst/>
          </a:prstGeom>
          <a:noFill/>
          <a:ln/>
        </p:spPr>
        <p:txBody>
          <a:bodyPr wrap="square" lIns="0" tIns="0" rIns="0" bIns="0" rtlCol="0" anchor="ctr"/>
          <a:lstStyle/>
          <a:p>
            <a:pPr algn="ctr" indent="0" marL="0">
              <a:buNone/>
            </a:pPr>
            <a:r>
              <a:rPr lang="en-US" sz="850" spc="150" kern="0" dirty="0">
                <a:solidFill>
                  <a:srgbClr val="7A8C76"/>
                </a:solidFill>
                <a:latin typeface="Cambria" pitchFamily="34" charset="0"/>
                <a:ea typeface="Cambria" pitchFamily="34" charset="-122"/>
                <a:cs typeface="Cambria" pitchFamily="34" charset="-120"/>
              </a:rPr>
              <a:t>SHOOT</a:t>
            </a:r>
            <a:endParaRPr lang="en-US" sz="850" dirty="0"/>
          </a:p>
        </p:txBody>
      </p:sp>
      <p:sp>
        <p:nvSpPr>
          <p:cNvPr id="21" name="Text 19"/>
          <p:cNvSpPr/>
          <p:nvPr/>
        </p:nvSpPr>
        <p:spPr>
          <a:xfrm>
            <a:off x="8001000" y="3337560"/>
            <a:ext cx="1463040" cy="365760"/>
          </a:xfrm>
          <a:prstGeom prst="rect">
            <a:avLst/>
          </a:prstGeom>
          <a:noFill/>
          <a:ln/>
        </p:spPr>
        <p:txBody>
          <a:bodyPr wrap="square" lIns="0" tIns="0" rIns="0" bIns="0" rtlCol="0" anchor="ctr"/>
          <a:lstStyle/>
          <a:p>
            <a:pPr algn="ctr" indent="0" marL="0">
              <a:buNone/>
            </a:pPr>
            <a:r>
              <a:rPr lang="en-US" sz="1300" spc="200" kern="0" dirty="0">
                <a:solidFill>
                  <a:srgbClr val="7A8C76"/>
                </a:solidFill>
                <a:latin typeface="Yu Mincho" pitchFamily="34" charset="0"/>
                <a:ea typeface="Yu Mincho" pitchFamily="34" charset="-122"/>
                <a:cs typeface="Yu Mincho" pitchFamily="34" charset="-120"/>
              </a:rPr>
              <a:t>竹 の 循 環</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EDE7"/>
        </a:solidFill>
      </p:bgPr>
    </p:bg>
    <p:spTree>
      <p:nvGrpSpPr>
        <p:cNvPr id="1" name=""/>
        <p:cNvGrpSpPr/>
        <p:nvPr/>
      </p:nvGrpSpPr>
      <p:grpSpPr>
        <a:xfrm>
          <a:off x="0" y="0"/>
          <a:ext cx="0" cy="0"/>
          <a:chOff x="0" y="0"/>
          <a:chExt cx="0" cy="0"/>
        </a:xfrm>
      </p:grpSpPr>
      <p:sp>
        <p:nvSpPr>
          <p:cNvPr id="2" name="Text 0"/>
          <p:cNvSpPr/>
          <p:nvPr/>
        </p:nvSpPr>
        <p:spPr>
          <a:xfrm>
            <a:off x="822960" y="594360"/>
            <a:ext cx="5486400" cy="256032"/>
          </a:xfrm>
          <a:prstGeom prst="rect">
            <a:avLst/>
          </a:prstGeom>
          <a:noFill/>
          <a:ln/>
        </p:spPr>
        <p:txBody>
          <a:bodyPr wrap="square" lIns="0" tIns="0" rIns="0" bIns="0" rtlCol="0" anchor="ctr"/>
          <a:lstStyle/>
          <a:p>
            <a:pPr indent="0" marL="0">
              <a:buNone/>
            </a:pPr>
            <a:r>
              <a:rPr lang="en-US" sz="1100" spc="300" kern="0" dirty="0">
                <a:solidFill>
                  <a:srgbClr val="C8A96E"/>
                </a:solidFill>
                <a:latin typeface="Cambria" pitchFamily="34" charset="0"/>
                <a:ea typeface="Cambria" pitchFamily="34" charset="-122"/>
                <a:cs typeface="Cambria" pitchFamily="34" charset="-120"/>
              </a:rPr>
              <a:t>A   Y E A R</a:t>
            </a:r>
            <a:endParaRPr lang="en-US" sz="1100" dirty="0"/>
          </a:p>
        </p:txBody>
      </p:sp>
      <p:sp>
        <p:nvSpPr>
          <p:cNvPr id="3" name="Text 1"/>
          <p:cNvSpPr/>
          <p:nvPr/>
        </p:nvSpPr>
        <p:spPr>
          <a:xfrm>
            <a:off x="822960" y="960120"/>
            <a:ext cx="10515600" cy="662178"/>
          </a:xfrm>
          <a:prstGeom prst="rect">
            <a:avLst/>
          </a:prstGeom>
          <a:noFill/>
          <a:ln/>
        </p:spPr>
        <p:txBody>
          <a:bodyPr wrap="square" lIns="0" tIns="0" rIns="0" bIns="0" rtlCol="0" anchor="t"/>
          <a:lstStyle/>
          <a:p>
            <a:pPr indent="0" marL="0">
              <a:lnSpc>
                <a:spcPts val="4350"/>
              </a:lnSpc>
              <a:buNone/>
            </a:pPr>
            <a:r>
              <a:rPr lang="en-US" sz="3000" b="1" dirty="0">
                <a:solidFill>
                  <a:srgbClr val="2C362A"/>
                </a:solidFill>
                <a:latin typeface="Yu Mincho" pitchFamily="34" charset="0"/>
                <a:ea typeface="Yu Mincho" pitchFamily="34" charset="-122"/>
                <a:cs typeface="Yu Mincho" pitchFamily="34" charset="-120"/>
              </a:rPr>
              <a:t>ここの時間は、月のリズムで動いています。</a:t>
            </a:r>
            <a:endParaRPr lang="en-US" sz="3000" dirty="0"/>
          </a:p>
        </p:txBody>
      </p:sp>
      <p:sp>
        <p:nvSpPr>
          <p:cNvPr id="4" name="Text 2"/>
          <p:cNvSpPr/>
          <p:nvPr/>
        </p:nvSpPr>
        <p:spPr>
          <a:xfrm>
            <a:off x="822960" y="2057400"/>
            <a:ext cx="10515600" cy="365760"/>
          </a:xfrm>
          <a:prstGeom prst="rect">
            <a:avLst/>
          </a:prstGeom>
          <a:noFill/>
          <a:ln/>
        </p:spPr>
        <p:txBody>
          <a:bodyPr wrap="square" lIns="0" tIns="0" rIns="0" bIns="0" rtlCol="0" anchor="ctr"/>
          <a:lstStyle/>
          <a:p>
            <a:pPr indent="0" marL="0">
              <a:buNone/>
            </a:pPr>
            <a:r>
              <a:rPr lang="en-US" sz="1400" dirty="0">
                <a:solidFill>
                  <a:srgbClr val="3A4438"/>
                </a:solidFill>
                <a:latin typeface="Yu Gothic" pitchFamily="34" charset="0"/>
                <a:ea typeface="Yu Gothic" pitchFamily="34" charset="-122"/>
                <a:cs typeface="Yu Gothic" pitchFamily="34" charset="-120"/>
              </a:rPr>
              <a:t>四つの季節に、四つの集い。暦が一周すると、竹林も人も、少しだけ変わっています。</a:t>
            </a:r>
            <a:endParaRPr lang="en-US" sz="1400" dirty="0"/>
          </a:p>
        </p:txBody>
      </p:sp>
      <p:sp>
        <p:nvSpPr>
          <p:cNvPr id="5" name="Shape 3"/>
          <p:cNvSpPr/>
          <p:nvPr/>
        </p:nvSpPr>
        <p:spPr>
          <a:xfrm>
            <a:off x="822960" y="2743200"/>
            <a:ext cx="2423160" cy="3246120"/>
          </a:xfrm>
          <a:prstGeom prst="roundRect">
            <a:avLst>
              <a:gd name="adj" fmla="val 2264"/>
            </a:avLst>
          </a:prstGeom>
          <a:solidFill>
            <a:srgbClr val="FFFFFF"/>
          </a:solidFill>
          <a:ln w="9525">
            <a:solidFill>
              <a:srgbClr val="7A8C76">
                <a:alpha val="25000"/>
              </a:srgbClr>
            </a:solidFill>
            <a:prstDash val="solid"/>
          </a:ln>
        </p:spPr>
      </p:sp>
      <p:sp>
        <p:nvSpPr>
          <p:cNvPr id="6" name="Shape 4"/>
          <p:cNvSpPr/>
          <p:nvPr/>
        </p:nvSpPr>
        <p:spPr>
          <a:xfrm>
            <a:off x="1115568" y="3035808"/>
            <a:ext cx="384048" cy="384048"/>
          </a:xfrm>
          <a:prstGeom prst="ellipse">
            <a:avLst/>
          </a:prstGeom>
          <a:ln w="12700">
            <a:solidFill>
              <a:srgbClr val="C8A96E"/>
            </a:solidFill>
            <a:prstDash val="solid"/>
          </a:ln>
        </p:spPr>
      </p:sp>
      <p:sp>
        <p:nvSpPr>
          <p:cNvPr id="7" name="Text 5"/>
          <p:cNvSpPr/>
          <p:nvPr/>
        </p:nvSpPr>
        <p:spPr>
          <a:xfrm>
            <a:off x="1115568" y="3054096"/>
            <a:ext cx="384048" cy="347472"/>
          </a:xfrm>
          <a:prstGeom prst="rect">
            <a:avLst/>
          </a:prstGeom>
          <a:noFill/>
          <a:ln/>
        </p:spPr>
        <p:txBody>
          <a:bodyPr wrap="square" lIns="0" tIns="0" rIns="0" bIns="0" rtlCol="0" anchor="ctr"/>
          <a:lstStyle/>
          <a:p>
            <a:pPr algn="ctr" indent="0" marL="0">
              <a:buNone/>
            </a:pPr>
            <a:r>
              <a:rPr lang="en-US" sz="1200" dirty="0">
                <a:solidFill>
                  <a:srgbClr val="C8A96E"/>
                </a:solidFill>
                <a:latin typeface="Cambria" pitchFamily="34" charset="0"/>
                <a:ea typeface="Cambria" pitchFamily="34" charset="-122"/>
                <a:cs typeface="Cambria" pitchFamily="34" charset="-120"/>
              </a:rPr>
              <a:t>1</a:t>
            </a:r>
            <a:endParaRPr lang="en-US" sz="1200" dirty="0"/>
          </a:p>
        </p:txBody>
      </p:sp>
      <p:sp>
        <p:nvSpPr>
          <p:cNvPr id="8" name="Text 6"/>
          <p:cNvSpPr/>
          <p:nvPr/>
        </p:nvSpPr>
        <p:spPr>
          <a:xfrm>
            <a:off x="1627632" y="3054096"/>
            <a:ext cx="1554480" cy="274320"/>
          </a:xfrm>
          <a:prstGeom prst="rect">
            <a:avLst/>
          </a:prstGeom>
          <a:noFill/>
          <a:ln/>
        </p:spPr>
        <p:txBody>
          <a:bodyPr wrap="square" lIns="0" tIns="0" rIns="0" bIns="0" rtlCol="0" anchor="ctr"/>
          <a:lstStyle/>
          <a:p>
            <a:pPr indent="0" marL="0">
              <a:buNone/>
            </a:pPr>
            <a:r>
              <a:rPr lang="en-US" sz="1050" spc="200" kern="0" dirty="0">
                <a:solidFill>
                  <a:srgbClr val="C8A96E"/>
                </a:solidFill>
                <a:latin typeface="Cambria" pitchFamily="34" charset="0"/>
                <a:ea typeface="Cambria" pitchFamily="34" charset="-122"/>
                <a:cs typeface="Cambria" pitchFamily="34" charset="-120"/>
              </a:rPr>
              <a:t>SPRING</a:t>
            </a:r>
            <a:endParaRPr lang="en-US" sz="1050" dirty="0"/>
          </a:p>
        </p:txBody>
      </p:sp>
      <p:sp>
        <p:nvSpPr>
          <p:cNvPr id="9" name="Text 7"/>
          <p:cNvSpPr/>
          <p:nvPr/>
        </p:nvSpPr>
        <p:spPr>
          <a:xfrm>
            <a:off x="1115568" y="3584448"/>
            <a:ext cx="1828800" cy="274320"/>
          </a:xfrm>
          <a:prstGeom prst="rect">
            <a:avLst/>
          </a:prstGeom>
          <a:noFill/>
          <a:ln/>
        </p:spPr>
        <p:txBody>
          <a:bodyPr wrap="square" lIns="0" tIns="0" rIns="0" bIns="0" rtlCol="0" anchor="ctr"/>
          <a:lstStyle/>
          <a:p>
            <a:pPr indent="0" marL="0">
              <a:buNone/>
            </a:pPr>
            <a:r>
              <a:rPr lang="en-US" sz="1100" dirty="0">
                <a:solidFill>
                  <a:srgbClr val="7A8C76"/>
                </a:solidFill>
                <a:latin typeface="Yu Gothic" pitchFamily="34" charset="0"/>
                <a:ea typeface="Yu Gothic" pitchFamily="34" charset="-122"/>
                <a:cs typeface="Yu Gothic" pitchFamily="34" charset="-120"/>
              </a:rPr>
              <a:t>3月 — 5月</a:t>
            </a:r>
            <a:endParaRPr lang="en-US" sz="1100" dirty="0"/>
          </a:p>
        </p:txBody>
      </p:sp>
      <p:sp>
        <p:nvSpPr>
          <p:cNvPr id="10" name="Text 8"/>
          <p:cNvSpPr/>
          <p:nvPr/>
        </p:nvSpPr>
        <p:spPr>
          <a:xfrm>
            <a:off x="1115568" y="3950208"/>
            <a:ext cx="1874520" cy="411480"/>
          </a:xfrm>
          <a:prstGeom prst="rect">
            <a:avLst/>
          </a:prstGeom>
          <a:noFill/>
          <a:ln/>
        </p:spPr>
        <p:txBody>
          <a:bodyPr wrap="square" lIns="0" tIns="0" rIns="0" bIns="0" rtlCol="0" anchor="ctr"/>
          <a:lstStyle/>
          <a:p>
            <a:pPr indent="0" marL="0">
              <a:buNone/>
            </a:pPr>
            <a:r>
              <a:rPr lang="en-US" sz="1650" b="1" dirty="0">
                <a:solidFill>
                  <a:srgbClr val="2C362A"/>
                </a:solidFill>
                <a:latin typeface="Yu Mincho" pitchFamily="34" charset="0"/>
                <a:ea typeface="Yu Mincho" pitchFamily="34" charset="-122"/>
                <a:cs typeface="Yu Mincho" pitchFamily="34" charset="-120"/>
              </a:rPr>
              <a:t>たけのこ掘り</a:t>
            </a:r>
            <a:endParaRPr lang="en-US" sz="1650" dirty="0"/>
          </a:p>
        </p:txBody>
      </p:sp>
      <p:sp>
        <p:nvSpPr>
          <p:cNvPr id="11" name="Text 9"/>
          <p:cNvSpPr/>
          <p:nvPr/>
        </p:nvSpPr>
        <p:spPr>
          <a:xfrm>
            <a:off x="1115568" y="4434840"/>
            <a:ext cx="1874520" cy="274320"/>
          </a:xfrm>
          <a:prstGeom prst="rect">
            <a:avLst/>
          </a:prstGeom>
          <a:noFill/>
          <a:ln/>
        </p:spPr>
        <p:txBody>
          <a:bodyPr wrap="square" lIns="0" tIns="0" rIns="0" bIns="0" rtlCol="0" anchor="ctr"/>
          <a:lstStyle/>
          <a:p>
            <a:pPr indent="0" marL="0">
              <a:buNone/>
            </a:pPr>
            <a:r>
              <a:rPr lang="en-US" sz="1100" i="1" dirty="0">
                <a:solidFill>
                  <a:srgbClr val="7A8C76"/>
                </a:solidFill>
                <a:latin typeface="Yu Gothic" pitchFamily="34" charset="0"/>
                <a:ea typeface="Yu Gothic" pitchFamily="34" charset="-122"/>
                <a:cs typeface="Yu Gothic" pitchFamily="34" charset="-120"/>
              </a:rPr>
              <a:t>― 春の筍起こし</a:t>
            </a:r>
            <a:endParaRPr lang="en-US" sz="1100" dirty="0"/>
          </a:p>
        </p:txBody>
      </p:sp>
      <p:sp>
        <p:nvSpPr>
          <p:cNvPr id="12" name="Text 10"/>
          <p:cNvSpPr/>
          <p:nvPr/>
        </p:nvSpPr>
        <p:spPr>
          <a:xfrm>
            <a:off x="1115568" y="4800600"/>
            <a:ext cx="1874520" cy="1051560"/>
          </a:xfrm>
          <a:prstGeom prst="rect">
            <a:avLst/>
          </a:prstGeom>
          <a:noFill/>
          <a:ln/>
        </p:spPr>
        <p:txBody>
          <a:bodyPr wrap="square" lIns="0" tIns="0" rIns="0" bIns="0" rtlCol="0" anchor="ctr"/>
          <a:lstStyle/>
          <a:p>
            <a:pPr indent="0" marL="0">
              <a:lnSpc>
                <a:spcPts val="1800"/>
              </a:lnSpc>
              <a:buNone/>
            </a:pPr>
            <a:r>
              <a:rPr lang="en-US" sz="1150" dirty="0">
                <a:solidFill>
                  <a:srgbClr val="3A4438"/>
                </a:solidFill>
                <a:latin typeface="Yu Gothic" pitchFamily="34" charset="0"/>
                <a:ea typeface="Yu Gothic" pitchFamily="34" charset="-122"/>
                <a:cs typeface="Yu Gothic" pitchFamily="34" charset="-120"/>
              </a:rPr>
              <a:t>土の中から自分でたけのこを掘り起こす、春だけの特別な体験。</a:t>
            </a:r>
            <a:endParaRPr lang="en-US" sz="1150" dirty="0"/>
          </a:p>
        </p:txBody>
      </p:sp>
      <p:sp>
        <p:nvSpPr>
          <p:cNvPr id="13" name="Shape 11"/>
          <p:cNvSpPr/>
          <p:nvPr/>
        </p:nvSpPr>
        <p:spPr>
          <a:xfrm>
            <a:off x="3547872" y="2743200"/>
            <a:ext cx="2423160" cy="3246120"/>
          </a:xfrm>
          <a:prstGeom prst="roundRect">
            <a:avLst>
              <a:gd name="adj" fmla="val 2264"/>
            </a:avLst>
          </a:prstGeom>
          <a:solidFill>
            <a:srgbClr val="FFFFFF"/>
          </a:solidFill>
          <a:ln w="9525">
            <a:solidFill>
              <a:srgbClr val="7A8C76">
                <a:alpha val="25000"/>
              </a:srgbClr>
            </a:solidFill>
            <a:prstDash val="solid"/>
          </a:ln>
        </p:spPr>
      </p:sp>
      <p:sp>
        <p:nvSpPr>
          <p:cNvPr id="14" name="Shape 12"/>
          <p:cNvSpPr/>
          <p:nvPr/>
        </p:nvSpPr>
        <p:spPr>
          <a:xfrm>
            <a:off x="3840480" y="3035808"/>
            <a:ext cx="384048" cy="384048"/>
          </a:xfrm>
          <a:prstGeom prst="ellipse">
            <a:avLst/>
          </a:prstGeom>
          <a:ln w="12700">
            <a:solidFill>
              <a:srgbClr val="C8A96E"/>
            </a:solidFill>
            <a:prstDash val="solid"/>
          </a:ln>
        </p:spPr>
      </p:sp>
      <p:sp>
        <p:nvSpPr>
          <p:cNvPr id="15" name="Text 13"/>
          <p:cNvSpPr/>
          <p:nvPr/>
        </p:nvSpPr>
        <p:spPr>
          <a:xfrm>
            <a:off x="3840480" y="3054096"/>
            <a:ext cx="384048" cy="347472"/>
          </a:xfrm>
          <a:prstGeom prst="rect">
            <a:avLst/>
          </a:prstGeom>
          <a:noFill/>
          <a:ln/>
        </p:spPr>
        <p:txBody>
          <a:bodyPr wrap="square" lIns="0" tIns="0" rIns="0" bIns="0" rtlCol="0" anchor="ctr"/>
          <a:lstStyle/>
          <a:p>
            <a:pPr algn="ctr" indent="0" marL="0">
              <a:buNone/>
            </a:pPr>
            <a:r>
              <a:rPr lang="en-US" sz="1200" dirty="0">
                <a:solidFill>
                  <a:srgbClr val="C8A96E"/>
                </a:solidFill>
                <a:latin typeface="Cambria" pitchFamily="34" charset="0"/>
                <a:ea typeface="Cambria" pitchFamily="34" charset="-122"/>
                <a:cs typeface="Cambria" pitchFamily="34" charset="-120"/>
              </a:rPr>
              <a:t>2</a:t>
            </a:r>
            <a:endParaRPr lang="en-US" sz="1200" dirty="0"/>
          </a:p>
        </p:txBody>
      </p:sp>
      <p:sp>
        <p:nvSpPr>
          <p:cNvPr id="16" name="Text 14"/>
          <p:cNvSpPr/>
          <p:nvPr/>
        </p:nvSpPr>
        <p:spPr>
          <a:xfrm>
            <a:off x="4352544" y="3054096"/>
            <a:ext cx="1554480" cy="274320"/>
          </a:xfrm>
          <a:prstGeom prst="rect">
            <a:avLst/>
          </a:prstGeom>
          <a:noFill/>
          <a:ln/>
        </p:spPr>
        <p:txBody>
          <a:bodyPr wrap="square" lIns="0" tIns="0" rIns="0" bIns="0" rtlCol="0" anchor="ctr"/>
          <a:lstStyle/>
          <a:p>
            <a:pPr indent="0" marL="0">
              <a:buNone/>
            </a:pPr>
            <a:r>
              <a:rPr lang="en-US" sz="1050" spc="200" kern="0" dirty="0">
                <a:solidFill>
                  <a:srgbClr val="C8A96E"/>
                </a:solidFill>
                <a:latin typeface="Cambria" pitchFamily="34" charset="0"/>
                <a:ea typeface="Cambria" pitchFamily="34" charset="-122"/>
                <a:cs typeface="Cambria" pitchFamily="34" charset="-120"/>
              </a:rPr>
              <a:t>SUMMER</a:t>
            </a:r>
            <a:endParaRPr lang="en-US" sz="1050" dirty="0"/>
          </a:p>
        </p:txBody>
      </p:sp>
      <p:sp>
        <p:nvSpPr>
          <p:cNvPr id="17" name="Text 15"/>
          <p:cNvSpPr/>
          <p:nvPr/>
        </p:nvSpPr>
        <p:spPr>
          <a:xfrm>
            <a:off x="3840480" y="3584448"/>
            <a:ext cx="1828800" cy="274320"/>
          </a:xfrm>
          <a:prstGeom prst="rect">
            <a:avLst/>
          </a:prstGeom>
          <a:noFill/>
          <a:ln/>
        </p:spPr>
        <p:txBody>
          <a:bodyPr wrap="square" lIns="0" tIns="0" rIns="0" bIns="0" rtlCol="0" anchor="ctr"/>
          <a:lstStyle/>
          <a:p>
            <a:pPr indent="0" marL="0">
              <a:buNone/>
            </a:pPr>
            <a:r>
              <a:rPr lang="en-US" sz="1100" dirty="0">
                <a:solidFill>
                  <a:srgbClr val="7A8C76"/>
                </a:solidFill>
                <a:latin typeface="Yu Gothic" pitchFamily="34" charset="0"/>
                <a:ea typeface="Yu Gothic" pitchFamily="34" charset="-122"/>
                <a:cs typeface="Yu Gothic" pitchFamily="34" charset="-120"/>
              </a:rPr>
              <a:t>6月</a:t>
            </a:r>
            <a:endParaRPr lang="en-US" sz="1100" dirty="0"/>
          </a:p>
        </p:txBody>
      </p:sp>
      <p:sp>
        <p:nvSpPr>
          <p:cNvPr id="18" name="Text 16"/>
          <p:cNvSpPr/>
          <p:nvPr/>
        </p:nvSpPr>
        <p:spPr>
          <a:xfrm>
            <a:off x="3840480" y="3950208"/>
            <a:ext cx="1874520" cy="411480"/>
          </a:xfrm>
          <a:prstGeom prst="rect">
            <a:avLst/>
          </a:prstGeom>
          <a:noFill/>
          <a:ln/>
        </p:spPr>
        <p:txBody>
          <a:bodyPr wrap="square" lIns="0" tIns="0" rIns="0" bIns="0" rtlCol="0" anchor="ctr"/>
          <a:lstStyle/>
          <a:p>
            <a:pPr indent="0" marL="0">
              <a:buNone/>
            </a:pPr>
            <a:r>
              <a:rPr lang="en-US" sz="1650" b="1" dirty="0">
                <a:solidFill>
                  <a:srgbClr val="2C362A"/>
                </a:solidFill>
                <a:latin typeface="Yu Mincho" pitchFamily="34" charset="0"/>
                <a:ea typeface="Yu Mincho" pitchFamily="34" charset="-122"/>
                <a:cs typeface="Yu Mincho" pitchFamily="34" charset="-120"/>
              </a:rPr>
              <a:t>竹節水観察会</a:t>
            </a:r>
            <a:endParaRPr lang="en-US" sz="1650" dirty="0"/>
          </a:p>
        </p:txBody>
      </p:sp>
      <p:sp>
        <p:nvSpPr>
          <p:cNvPr id="19" name="Text 17"/>
          <p:cNvSpPr/>
          <p:nvPr/>
        </p:nvSpPr>
        <p:spPr>
          <a:xfrm>
            <a:off x="3840480" y="4434840"/>
            <a:ext cx="1874520" cy="274320"/>
          </a:xfrm>
          <a:prstGeom prst="rect">
            <a:avLst/>
          </a:prstGeom>
          <a:noFill/>
          <a:ln/>
        </p:spPr>
        <p:txBody>
          <a:bodyPr wrap="square" lIns="0" tIns="0" rIns="0" bIns="0" rtlCol="0" anchor="ctr"/>
          <a:lstStyle/>
          <a:p>
            <a:pPr indent="0" marL="0">
              <a:buNone/>
            </a:pPr>
            <a:r>
              <a:rPr lang="en-US" sz="1100" i="1" dirty="0">
                <a:solidFill>
                  <a:srgbClr val="7A8C76"/>
                </a:solidFill>
                <a:latin typeface="Yu Gothic" pitchFamily="34" charset="0"/>
                <a:ea typeface="Yu Gothic" pitchFamily="34" charset="-122"/>
                <a:cs typeface="Yu Gothic" pitchFamily="34" charset="-120"/>
              </a:rPr>
              <a:t>― 竹の節句</a:t>
            </a:r>
            <a:endParaRPr lang="en-US" sz="1100" dirty="0"/>
          </a:p>
        </p:txBody>
      </p:sp>
      <p:sp>
        <p:nvSpPr>
          <p:cNvPr id="20" name="Text 18"/>
          <p:cNvSpPr/>
          <p:nvPr/>
        </p:nvSpPr>
        <p:spPr>
          <a:xfrm>
            <a:off x="3840480" y="4800600"/>
            <a:ext cx="1874520" cy="1051560"/>
          </a:xfrm>
          <a:prstGeom prst="rect">
            <a:avLst/>
          </a:prstGeom>
          <a:noFill/>
          <a:ln/>
        </p:spPr>
        <p:txBody>
          <a:bodyPr wrap="square" lIns="0" tIns="0" rIns="0" bIns="0" rtlCol="0" anchor="ctr"/>
          <a:lstStyle/>
          <a:p>
            <a:pPr indent="0" marL="0">
              <a:lnSpc>
                <a:spcPts val="1800"/>
              </a:lnSpc>
              <a:buNone/>
            </a:pPr>
            <a:r>
              <a:rPr lang="en-US" sz="1150" dirty="0">
                <a:solidFill>
                  <a:srgbClr val="3A4438"/>
                </a:solidFill>
                <a:latin typeface="Yu Gothic" pitchFamily="34" charset="0"/>
                <a:ea typeface="Yu Gothic" pitchFamily="34" charset="-122"/>
                <a:cs typeface="Yu Gothic" pitchFamily="34" charset="-120"/>
              </a:rPr>
              <a:t>竹の節に溜まった水を観察する、梅雨ならではの静かな体験。</a:t>
            </a:r>
            <a:endParaRPr lang="en-US" sz="1150" dirty="0"/>
          </a:p>
        </p:txBody>
      </p:sp>
      <p:sp>
        <p:nvSpPr>
          <p:cNvPr id="21" name="Shape 19"/>
          <p:cNvSpPr/>
          <p:nvPr/>
        </p:nvSpPr>
        <p:spPr>
          <a:xfrm>
            <a:off x="6272784" y="2743200"/>
            <a:ext cx="2423160" cy="3246120"/>
          </a:xfrm>
          <a:prstGeom prst="roundRect">
            <a:avLst>
              <a:gd name="adj" fmla="val 2264"/>
            </a:avLst>
          </a:prstGeom>
          <a:solidFill>
            <a:srgbClr val="FFFFFF"/>
          </a:solidFill>
          <a:ln w="9525">
            <a:solidFill>
              <a:srgbClr val="7A8C76">
                <a:alpha val="25000"/>
              </a:srgbClr>
            </a:solidFill>
            <a:prstDash val="solid"/>
          </a:ln>
        </p:spPr>
      </p:sp>
      <p:sp>
        <p:nvSpPr>
          <p:cNvPr id="22" name="Shape 20"/>
          <p:cNvSpPr/>
          <p:nvPr/>
        </p:nvSpPr>
        <p:spPr>
          <a:xfrm>
            <a:off x="6565392" y="3035808"/>
            <a:ext cx="384048" cy="384048"/>
          </a:xfrm>
          <a:prstGeom prst="ellipse">
            <a:avLst/>
          </a:prstGeom>
          <a:ln w="12700">
            <a:solidFill>
              <a:srgbClr val="C8A96E"/>
            </a:solidFill>
            <a:prstDash val="solid"/>
          </a:ln>
        </p:spPr>
      </p:sp>
      <p:sp>
        <p:nvSpPr>
          <p:cNvPr id="23" name="Text 21"/>
          <p:cNvSpPr/>
          <p:nvPr/>
        </p:nvSpPr>
        <p:spPr>
          <a:xfrm>
            <a:off x="6565392" y="3054096"/>
            <a:ext cx="384048" cy="347472"/>
          </a:xfrm>
          <a:prstGeom prst="rect">
            <a:avLst/>
          </a:prstGeom>
          <a:noFill/>
          <a:ln/>
        </p:spPr>
        <p:txBody>
          <a:bodyPr wrap="square" lIns="0" tIns="0" rIns="0" bIns="0" rtlCol="0" anchor="ctr"/>
          <a:lstStyle/>
          <a:p>
            <a:pPr algn="ctr" indent="0" marL="0">
              <a:buNone/>
            </a:pPr>
            <a:r>
              <a:rPr lang="en-US" sz="1200" dirty="0">
                <a:solidFill>
                  <a:srgbClr val="C8A96E"/>
                </a:solidFill>
                <a:latin typeface="Cambria" pitchFamily="34" charset="0"/>
                <a:ea typeface="Cambria" pitchFamily="34" charset="-122"/>
                <a:cs typeface="Cambria" pitchFamily="34" charset="-120"/>
              </a:rPr>
              <a:t>3</a:t>
            </a:r>
            <a:endParaRPr lang="en-US" sz="1200" dirty="0"/>
          </a:p>
        </p:txBody>
      </p:sp>
      <p:sp>
        <p:nvSpPr>
          <p:cNvPr id="24" name="Text 22"/>
          <p:cNvSpPr/>
          <p:nvPr/>
        </p:nvSpPr>
        <p:spPr>
          <a:xfrm>
            <a:off x="7077456" y="3054096"/>
            <a:ext cx="1554480" cy="274320"/>
          </a:xfrm>
          <a:prstGeom prst="rect">
            <a:avLst/>
          </a:prstGeom>
          <a:noFill/>
          <a:ln/>
        </p:spPr>
        <p:txBody>
          <a:bodyPr wrap="square" lIns="0" tIns="0" rIns="0" bIns="0" rtlCol="0" anchor="ctr"/>
          <a:lstStyle/>
          <a:p>
            <a:pPr indent="0" marL="0">
              <a:buNone/>
            </a:pPr>
            <a:r>
              <a:rPr lang="en-US" sz="1050" spc="200" kern="0" dirty="0">
                <a:solidFill>
                  <a:srgbClr val="C8A96E"/>
                </a:solidFill>
                <a:latin typeface="Cambria" pitchFamily="34" charset="0"/>
                <a:ea typeface="Cambria" pitchFamily="34" charset="-122"/>
                <a:cs typeface="Cambria" pitchFamily="34" charset="-120"/>
              </a:rPr>
              <a:t>AUTUMN</a:t>
            </a:r>
            <a:endParaRPr lang="en-US" sz="1050" dirty="0"/>
          </a:p>
        </p:txBody>
      </p:sp>
      <p:sp>
        <p:nvSpPr>
          <p:cNvPr id="25" name="Text 23"/>
          <p:cNvSpPr/>
          <p:nvPr/>
        </p:nvSpPr>
        <p:spPr>
          <a:xfrm>
            <a:off x="6565392" y="3584448"/>
            <a:ext cx="1828800" cy="274320"/>
          </a:xfrm>
          <a:prstGeom prst="rect">
            <a:avLst/>
          </a:prstGeom>
          <a:noFill/>
          <a:ln/>
        </p:spPr>
        <p:txBody>
          <a:bodyPr wrap="square" lIns="0" tIns="0" rIns="0" bIns="0" rtlCol="0" anchor="ctr"/>
          <a:lstStyle/>
          <a:p>
            <a:pPr indent="0" marL="0">
              <a:buNone/>
            </a:pPr>
            <a:r>
              <a:rPr lang="en-US" sz="1100" dirty="0">
                <a:solidFill>
                  <a:srgbClr val="7A8C76"/>
                </a:solidFill>
                <a:latin typeface="Yu Gothic" pitchFamily="34" charset="0"/>
                <a:ea typeface="Yu Gothic" pitchFamily="34" charset="-122"/>
                <a:cs typeface="Yu Gothic" pitchFamily="34" charset="-120"/>
              </a:rPr>
              <a:t>11月 — 12月</a:t>
            </a:r>
            <a:endParaRPr lang="en-US" sz="1100" dirty="0"/>
          </a:p>
        </p:txBody>
      </p:sp>
      <p:sp>
        <p:nvSpPr>
          <p:cNvPr id="26" name="Text 24"/>
          <p:cNvSpPr/>
          <p:nvPr/>
        </p:nvSpPr>
        <p:spPr>
          <a:xfrm>
            <a:off x="6565392" y="3950208"/>
            <a:ext cx="1874520" cy="411480"/>
          </a:xfrm>
          <a:prstGeom prst="rect">
            <a:avLst/>
          </a:prstGeom>
          <a:noFill/>
          <a:ln/>
        </p:spPr>
        <p:txBody>
          <a:bodyPr wrap="square" lIns="0" tIns="0" rIns="0" bIns="0" rtlCol="0" anchor="ctr"/>
          <a:lstStyle/>
          <a:p>
            <a:pPr indent="0" marL="0">
              <a:buNone/>
            </a:pPr>
            <a:r>
              <a:rPr lang="en-US" sz="1650" b="1" dirty="0">
                <a:solidFill>
                  <a:srgbClr val="2C362A"/>
                </a:solidFill>
                <a:latin typeface="Yu Mincho" pitchFamily="34" charset="0"/>
                <a:ea typeface="Yu Mincho" pitchFamily="34" charset="-122"/>
                <a:cs typeface="Yu Mincho" pitchFamily="34" charset="-120"/>
              </a:rPr>
              <a:t>竹林 DAYCAMP</a:t>
            </a:r>
            <a:endParaRPr lang="en-US" sz="1650" dirty="0"/>
          </a:p>
        </p:txBody>
      </p:sp>
      <p:sp>
        <p:nvSpPr>
          <p:cNvPr id="27" name="Text 25"/>
          <p:cNvSpPr/>
          <p:nvPr/>
        </p:nvSpPr>
        <p:spPr>
          <a:xfrm>
            <a:off x="6565392" y="4434840"/>
            <a:ext cx="1874520" cy="274320"/>
          </a:xfrm>
          <a:prstGeom prst="rect">
            <a:avLst/>
          </a:prstGeom>
          <a:noFill/>
          <a:ln/>
        </p:spPr>
        <p:txBody>
          <a:bodyPr wrap="square" lIns="0" tIns="0" rIns="0" bIns="0" rtlCol="0" anchor="ctr"/>
          <a:lstStyle/>
          <a:p>
            <a:pPr indent="0" marL="0">
              <a:buNone/>
            </a:pPr>
            <a:r>
              <a:rPr lang="en-US" sz="1100" i="1" dirty="0">
                <a:solidFill>
                  <a:srgbClr val="7A8C76"/>
                </a:solidFill>
                <a:latin typeface="Yu Gothic" pitchFamily="34" charset="0"/>
                <a:ea typeface="Yu Gothic" pitchFamily="34" charset="-122"/>
                <a:cs typeface="Yu Gothic" pitchFamily="34" charset="-120"/>
              </a:rPr>
              <a:t>― 竹始めの集い</a:t>
            </a:r>
            <a:endParaRPr lang="en-US" sz="1100" dirty="0"/>
          </a:p>
        </p:txBody>
      </p:sp>
      <p:sp>
        <p:nvSpPr>
          <p:cNvPr id="28" name="Text 26"/>
          <p:cNvSpPr/>
          <p:nvPr/>
        </p:nvSpPr>
        <p:spPr>
          <a:xfrm>
            <a:off x="6565392" y="4800600"/>
            <a:ext cx="1874520" cy="1051560"/>
          </a:xfrm>
          <a:prstGeom prst="rect">
            <a:avLst/>
          </a:prstGeom>
          <a:noFill/>
          <a:ln/>
        </p:spPr>
        <p:txBody>
          <a:bodyPr wrap="square" lIns="0" tIns="0" rIns="0" bIns="0" rtlCol="0" anchor="ctr"/>
          <a:lstStyle/>
          <a:p>
            <a:pPr indent="0" marL="0">
              <a:lnSpc>
                <a:spcPts val="1800"/>
              </a:lnSpc>
              <a:buNone/>
            </a:pPr>
            <a:r>
              <a:rPr lang="en-US" sz="1150" dirty="0">
                <a:solidFill>
                  <a:srgbClr val="3A4438"/>
                </a:solidFill>
                <a:latin typeface="Yu Gothic" pitchFamily="34" charset="0"/>
                <a:ea typeface="Yu Gothic" pitchFamily="34" charset="-122"/>
                <a:cs typeface="Yu Gothic" pitchFamily="34" charset="-120"/>
              </a:rPr>
              <a:t>焚き火を囲み、竹炭づくりや瞑想ウォークを楽しむ一日。</a:t>
            </a:r>
            <a:endParaRPr lang="en-US" sz="1150" dirty="0"/>
          </a:p>
        </p:txBody>
      </p:sp>
      <p:sp>
        <p:nvSpPr>
          <p:cNvPr id="29" name="Shape 27"/>
          <p:cNvSpPr/>
          <p:nvPr/>
        </p:nvSpPr>
        <p:spPr>
          <a:xfrm>
            <a:off x="8997696" y="2743200"/>
            <a:ext cx="2423160" cy="3246120"/>
          </a:xfrm>
          <a:prstGeom prst="roundRect">
            <a:avLst>
              <a:gd name="adj" fmla="val 2264"/>
            </a:avLst>
          </a:prstGeom>
          <a:solidFill>
            <a:srgbClr val="FFFFFF"/>
          </a:solidFill>
          <a:ln w="9525">
            <a:solidFill>
              <a:srgbClr val="7A8C76">
                <a:alpha val="25000"/>
              </a:srgbClr>
            </a:solidFill>
            <a:prstDash val="solid"/>
          </a:ln>
        </p:spPr>
      </p:sp>
      <p:sp>
        <p:nvSpPr>
          <p:cNvPr id="30" name="Shape 28"/>
          <p:cNvSpPr/>
          <p:nvPr/>
        </p:nvSpPr>
        <p:spPr>
          <a:xfrm>
            <a:off x="9290304" y="3035808"/>
            <a:ext cx="384048" cy="384048"/>
          </a:xfrm>
          <a:prstGeom prst="ellipse">
            <a:avLst/>
          </a:prstGeom>
          <a:ln w="12700">
            <a:solidFill>
              <a:srgbClr val="C8A96E"/>
            </a:solidFill>
            <a:prstDash val="solid"/>
          </a:ln>
        </p:spPr>
      </p:sp>
      <p:sp>
        <p:nvSpPr>
          <p:cNvPr id="31" name="Text 29"/>
          <p:cNvSpPr/>
          <p:nvPr/>
        </p:nvSpPr>
        <p:spPr>
          <a:xfrm>
            <a:off x="9290304" y="3054096"/>
            <a:ext cx="384048" cy="347472"/>
          </a:xfrm>
          <a:prstGeom prst="rect">
            <a:avLst/>
          </a:prstGeom>
          <a:noFill/>
          <a:ln/>
        </p:spPr>
        <p:txBody>
          <a:bodyPr wrap="square" lIns="0" tIns="0" rIns="0" bIns="0" rtlCol="0" anchor="ctr"/>
          <a:lstStyle/>
          <a:p>
            <a:pPr algn="ctr" indent="0" marL="0">
              <a:buNone/>
            </a:pPr>
            <a:r>
              <a:rPr lang="en-US" sz="1200" dirty="0">
                <a:solidFill>
                  <a:srgbClr val="C8A96E"/>
                </a:solidFill>
                <a:latin typeface="Cambria" pitchFamily="34" charset="0"/>
                <a:ea typeface="Cambria" pitchFamily="34" charset="-122"/>
                <a:cs typeface="Cambria" pitchFamily="34" charset="-120"/>
              </a:rPr>
              <a:t>4</a:t>
            </a:r>
            <a:endParaRPr lang="en-US" sz="1200" dirty="0"/>
          </a:p>
        </p:txBody>
      </p:sp>
      <p:sp>
        <p:nvSpPr>
          <p:cNvPr id="32" name="Text 30"/>
          <p:cNvSpPr/>
          <p:nvPr/>
        </p:nvSpPr>
        <p:spPr>
          <a:xfrm>
            <a:off x="9802368" y="3054096"/>
            <a:ext cx="1554480" cy="274320"/>
          </a:xfrm>
          <a:prstGeom prst="rect">
            <a:avLst/>
          </a:prstGeom>
          <a:noFill/>
          <a:ln/>
        </p:spPr>
        <p:txBody>
          <a:bodyPr wrap="square" lIns="0" tIns="0" rIns="0" bIns="0" rtlCol="0" anchor="ctr"/>
          <a:lstStyle/>
          <a:p>
            <a:pPr indent="0" marL="0">
              <a:buNone/>
            </a:pPr>
            <a:r>
              <a:rPr lang="en-US" sz="1050" spc="200" kern="0" dirty="0">
                <a:solidFill>
                  <a:srgbClr val="C8A96E"/>
                </a:solidFill>
                <a:latin typeface="Cambria" pitchFamily="34" charset="0"/>
                <a:ea typeface="Cambria" pitchFamily="34" charset="-122"/>
                <a:cs typeface="Cambria" pitchFamily="34" charset="-120"/>
              </a:rPr>
              <a:t>WINTER</a:t>
            </a:r>
            <a:endParaRPr lang="en-US" sz="1050" dirty="0"/>
          </a:p>
        </p:txBody>
      </p:sp>
      <p:sp>
        <p:nvSpPr>
          <p:cNvPr id="33" name="Text 31"/>
          <p:cNvSpPr/>
          <p:nvPr/>
        </p:nvSpPr>
        <p:spPr>
          <a:xfrm>
            <a:off x="9290304" y="3584448"/>
            <a:ext cx="1828800" cy="274320"/>
          </a:xfrm>
          <a:prstGeom prst="rect">
            <a:avLst/>
          </a:prstGeom>
          <a:noFill/>
          <a:ln/>
        </p:spPr>
        <p:txBody>
          <a:bodyPr wrap="square" lIns="0" tIns="0" rIns="0" bIns="0" rtlCol="0" anchor="ctr"/>
          <a:lstStyle/>
          <a:p>
            <a:pPr indent="0" marL="0">
              <a:buNone/>
            </a:pPr>
            <a:r>
              <a:rPr lang="en-US" sz="1100" dirty="0">
                <a:solidFill>
                  <a:srgbClr val="7A8C76"/>
                </a:solidFill>
                <a:latin typeface="Yu Gothic" pitchFamily="34" charset="0"/>
                <a:ea typeface="Yu Gothic" pitchFamily="34" charset="-122"/>
                <a:cs typeface="Yu Gothic" pitchFamily="34" charset="-120"/>
              </a:rPr>
              <a:t>1月 — 2月</a:t>
            </a:r>
            <a:endParaRPr lang="en-US" sz="1100" dirty="0"/>
          </a:p>
        </p:txBody>
      </p:sp>
      <p:sp>
        <p:nvSpPr>
          <p:cNvPr id="34" name="Text 32"/>
          <p:cNvSpPr/>
          <p:nvPr/>
        </p:nvSpPr>
        <p:spPr>
          <a:xfrm>
            <a:off x="9290304" y="3950208"/>
            <a:ext cx="1874520" cy="411480"/>
          </a:xfrm>
          <a:prstGeom prst="rect">
            <a:avLst/>
          </a:prstGeom>
          <a:noFill/>
          <a:ln/>
        </p:spPr>
        <p:txBody>
          <a:bodyPr wrap="square" lIns="0" tIns="0" rIns="0" bIns="0" rtlCol="0" anchor="ctr"/>
          <a:lstStyle/>
          <a:p>
            <a:pPr indent="0" marL="0">
              <a:buNone/>
            </a:pPr>
            <a:r>
              <a:rPr lang="en-US" sz="1650" b="1" dirty="0">
                <a:solidFill>
                  <a:srgbClr val="2C362A"/>
                </a:solidFill>
                <a:latin typeface="Yu Mincho" pitchFamily="34" charset="0"/>
                <a:ea typeface="Yu Mincho" pitchFamily="34" charset="-122"/>
                <a:cs typeface="Yu Mincho" pitchFamily="34" charset="-120"/>
              </a:rPr>
              <a:t>和しんぼく会</a:t>
            </a:r>
            <a:endParaRPr lang="en-US" sz="1650" dirty="0"/>
          </a:p>
        </p:txBody>
      </p:sp>
      <p:sp>
        <p:nvSpPr>
          <p:cNvPr id="35" name="Text 33"/>
          <p:cNvSpPr/>
          <p:nvPr/>
        </p:nvSpPr>
        <p:spPr>
          <a:xfrm>
            <a:off x="9290304" y="4434840"/>
            <a:ext cx="1874520" cy="274320"/>
          </a:xfrm>
          <a:prstGeom prst="rect">
            <a:avLst/>
          </a:prstGeom>
          <a:noFill/>
          <a:ln/>
        </p:spPr>
        <p:txBody>
          <a:bodyPr wrap="square" lIns="0" tIns="0" rIns="0" bIns="0" rtlCol="0" anchor="ctr"/>
          <a:lstStyle/>
          <a:p>
            <a:pPr indent="0" marL="0">
              <a:buNone/>
            </a:pPr>
            <a:r>
              <a:rPr lang="en-US" sz="1100" i="1" dirty="0">
                <a:solidFill>
                  <a:srgbClr val="7A8C76"/>
                </a:solidFill>
                <a:latin typeface="Yu Gothic" pitchFamily="34" charset="0"/>
                <a:ea typeface="Yu Gothic" pitchFamily="34" charset="-122"/>
                <a:cs typeface="Yu Gothic" pitchFamily="34" charset="-120"/>
              </a:rPr>
              <a:t>― 旧暦年越しの集い</a:t>
            </a:r>
            <a:endParaRPr lang="en-US" sz="1100" dirty="0"/>
          </a:p>
        </p:txBody>
      </p:sp>
      <p:sp>
        <p:nvSpPr>
          <p:cNvPr id="36" name="Text 34"/>
          <p:cNvSpPr/>
          <p:nvPr/>
        </p:nvSpPr>
        <p:spPr>
          <a:xfrm>
            <a:off x="9290304" y="4800600"/>
            <a:ext cx="1874520" cy="1051560"/>
          </a:xfrm>
          <a:prstGeom prst="rect">
            <a:avLst/>
          </a:prstGeom>
          <a:noFill/>
          <a:ln/>
        </p:spPr>
        <p:txBody>
          <a:bodyPr wrap="square" lIns="0" tIns="0" rIns="0" bIns="0" rtlCol="0" anchor="ctr"/>
          <a:lstStyle/>
          <a:p>
            <a:pPr indent="0" marL="0">
              <a:lnSpc>
                <a:spcPts val="1800"/>
              </a:lnSpc>
              <a:buNone/>
            </a:pPr>
            <a:r>
              <a:rPr lang="en-US" sz="1150" dirty="0">
                <a:solidFill>
                  <a:srgbClr val="3A4438"/>
                </a:solidFill>
                <a:latin typeface="Yu Gothic" pitchFamily="34" charset="0"/>
                <a:ea typeface="Yu Gothic" pitchFamily="34" charset="-122"/>
                <a:cs typeface="Yu Gothic" pitchFamily="34" charset="-120"/>
              </a:rPr>
              <a:t>新年の竹林で、静かに自分と向き合う交流会。</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F8F6"/>
        </a:solidFill>
      </p:bgPr>
    </p:bg>
    <p:spTree>
      <p:nvGrpSpPr>
        <p:cNvPr id="1" name=""/>
        <p:cNvGrpSpPr/>
        <p:nvPr/>
      </p:nvGrpSpPr>
      <p:grpSpPr>
        <a:xfrm>
          <a:off x="0" y="0"/>
          <a:ext cx="0" cy="0"/>
          <a:chOff x="0" y="0"/>
          <a:chExt cx="0" cy="0"/>
        </a:xfrm>
      </p:grpSpPr>
      <p:sp>
        <p:nvSpPr>
          <p:cNvPr id="2" name="Text 0"/>
          <p:cNvSpPr/>
          <p:nvPr/>
        </p:nvSpPr>
        <p:spPr>
          <a:xfrm>
            <a:off x="822960" y="594360"/>
            <a:ext cx="5486400" cy="256032"/>
          </a:xfrm>
          <a:prstGeom prst="rect">
            <a:avLst/>
          </a:prstGeom>
          <a:noFill/>
          <a:ln/>
        </p:spPr>
        <p:txBody>
          <a:bodyPr wrap="square" lIns="0" tIns="0" rIns="0" bIns="0" rtlCol="0" anchor="ctr"/>
          <a:lstStyle/>
          <a:p>
            <a:pPr indent="0" marL="0">
              <a:buNone/>
            </a:pPr>
            <a:r>
              <a:rPr lang="en-US" sz="1100" spc="300" kern="0" dirty="0">
                <a:solidFill>
                  <a:srgbClr val="C8A96E"/>
                </a:solidFill>
                <a:latin typeface="Cambria" pitchFamily="34" charset="0"/>
                <a:ea typeface="Cambria" pitchFamily="34" charset="-122"/>
                <a:cs typeface="Cambria" pitchFamily="34" charset="-120"/>
              </a:rPr>
              <a:t>W A Y S   I N</a:t>
            </a:r>
            <a:endParaRPr lang="en-US" sz="1100" dirty="0"/>
          </a:p>
        </p:txBody>
      </p:sp>
      <p:sp>
        <p:nvSpPr>
          <p:cNvPr id="3" name="Text 1"/>
          <p:cNvSpPr/>
          <p:nvPr/>
        </p:nvSpPr>
        <p:spPr>
          <a:xfrm>
            <a:off x="822960" y="960120"/>
            <a:ext cx="10515600" cy="662178"/>
          </a:xfrm>
          <a:prstGeom prst="rect">
            <a:avLst/>
          </a:prstGeom>
          <a:noFill/>
          <a:ln/>
        </p:spPr>
        <p:txBody>
          <a:bodyPr wrap="square" lIns="0" tIns="0" rIns="0" bIns="0" rtlCol="0" anchor="t"/>
          <a:lstStyle/>
          <a:p>
            <a:pPr indent="0" marL="0">
              <a:lnSpc>
                <a:spcPts val="4350"/>
              </a:lnSpc>
              <a:buNone/>
            </a:pPr>
            <a:r>
              <a:rPr lang="en-US" sz="3000" b="1" dirty="0">
                <a:solidFill>
                  <a:srgbClr val="2C362A"/>
                </a:solidFill>
                <a:latin typeface="Yu Mincho" pitchFamily="34" charset="0"/>
                <a:ea typeface="Yu Mincho" pitchFamily="34" charset="-122"/>
                <a:cs typeface="Yu Mincho" pitchFamily="34" charset="-120"/>
              </a:rPr>
              <a:t>三つの入り口があります。</a:t>
            </a:r>
            <a:endParaRPr lang="en-US" sz="3000" dirty="0"/>
          </a:p>
        </p:txBody>
      </p:sp>
      <p:pic>
        <p:nvPicPr>
          <p:cNvPr id="4" name="Image 0" descr="/tmp/claude-0/-home-user-bamboo-hp/ff9834b5-0209-5f50-8799-4952c8f99085/scratchpad/img/takenoko.jpg">    </p:cNvPr>
          <p:cNvPicPr>
            <a:picLocks noChangeAspect="1"/>
          </p:cNvPicPr>
          <p:nvPr/>
        </p:nvPicPr>
        <p:blipFill>
          <a:blip r:embed="rId1"/>
          <a:srcRect l="0" r="0" t="0" b="0"/>
          <a:stretch/>
        </p:blipFill>
        <p:spPr>
          <a:xfrm>
            <a:off x="822960" y="2148840"/>
            <a:ext cx="3291840" cy="2011680"/>
          </a:xfrm>
          <a:prstGeom prst="rect">
            <a:avLst/>
          </a:prstGeom>
        </p:spPr>
      </p:pic>
      <p:sp>
        <p:nvSpPr>
          <p:cNvPr id="5" name="Text 2"/>
          <p:cNvSpPr/>
          <p:nvPr/>
        </p:nvSpPr>
        <p:spPr>
          <a:xfrm>
            <a:off x="822960" y="4315968"/>
            <a:ext cx="3291840" cy="274320"/>
          </a:xfrm>
          <a:prstGeom prst="rect">
            <a:avLst/>
          </a:prstGeom>
          <a:noFill/>
          <a:ln/>
        </p:spPr>
        <p:txBody>
          <a:bodyPr wrap="square" lIns="0" tIns="0" rIns="0" bIns="0" rtlCol="0" anchor="ctr"/>
          <a:lstStyle/>
          <a:p>
            <a:pPr indent="0" marL="0">
              <a:buNone/>
            </a:pPr>
            <a:r>
              <a:rPr lang="en-US" sz="1050" spc="200" kern="0" dirty="0">
                <a:solidFill>
                  <a:srgbClr val="C8A96E"/>
                </a:solidFill>
                <a:latin typeface="Cambria" pitchFamily="34" charset="0"/>
                <a:ea typeface="Cambria" pitchFamily="34" charset="-122"/>
                <a:cs typeface="Cambria" pitchFamily="34" charset="-120"/>
              </a:rPr>
              <a:t>春 限 定</a:t>
            </a:r>
            <a:endParaRPr lang="en-US" sz="1050" dirty="0"/>
          </a:p>
        </p:txBody>
      </p:sp>
      <p:sp>
        <p:nvSpPr>
          <p:cNvPr id="6" name="Text 3"/>
          <p:cNvSpPr/>
          <p:nvPr/>
        </p:nvSpPr>
        <p:spPr>
          <a:xfrm>
            <a:off x="822960" y="4645152"/>
            <a:ext cx="3291840" cy="411480"/>
          </a:xfrm>
          <a:prstGeom prst="rect">
            <a:avLst/>
          </a:prstGeom>
          <a:noFill/>
          <a:ln/>
        </p:spPr>
        <p:txBody>
          <a:bodyPr wrap="square" lIns="0" tIns="0" rIns="0" bIns="0" rtlCol="0" anchor="ctr"/>
          <a:lstStyle/>
          <a:p>
            <a:pPr indent="0" marL="0">
              <a:buNone/>
            </a:pPr>
            <a:r>
              <a:rPr lang="en-US" sz="2000" b="1" dirty="0">
                <a:solidFill>
                  <a:srgbClr val="2C362A"/>
                </a:solidFill>
                <a:latin typeface="Yu Mincho" pitchFamily="34" charset="0"/>
                <a:ea typeface="Yu Mincho" pitchFamily="34" charset="-122"/>
                <a:cs typeface="Yu Mincho" pitchFamily="34" charset="-120"/>
              </a:rPr>
              <a:t>たけのこ掘り</a:t>
            </a:r>
            <a:endParaRPr lang="en-US" sz="2000" dirty="0"/>
          </a:p>
        </p:txBody>
      </p:sp>
      <p:sp>
        <p:nvSpPr>
          <p:cNvPr id="7" name="Text 4"/>
          <p:cNvSpPr/>
          <p:nvPr/>
        </p:nvSpPr>
        <p:spPr>
          <a:xfrm>
            <a:off x="822960" y="5166360"/>
            <a:ext cx="3291840" cy="868680"/>
          </a:xfrm>
          <a:prstGeom prst="rect">
            <a:avLst/>
          </a:prstGeom>
          <a:noFill/>
          <a:ln/>
        </p:spPr>
        <p:txBody>
          <a:bodyPr wrap="square" lIns="0" tIns="0" rIns="0" bIns="0" rtlCol="0" anchor="ctr"/>
          <a:lstStyle/>
          <a:p>
            <a:pPr indent="0" marL="0">
              <a:lnSpc>
                <a:spcPts val="2000"/>
              </a:lnSpc>
              <a:buNone/>
            </a:pPr>
            <a:r>
              <a:rPr lang="en-US" sz="1250" dirty="0">
                <a:solidFill>
                  <a:srgbClr val="3A4438"/>
                </a:solidFill>
                <a:latin typeface="Yu Gothic" pitchFamily="34" charset="0"/>
                <a:ea typeface="Yu Gothic" pitchFamily="34" charset="-122"/>
                <a:cs typeface="Yu Gothic" pitchFamily="34" charset="-120"/>
              </a:rPr>
              <a:t>土の中から自分で掘り起こす、</a:t>
            </a:r>
            <a:endParaRPr lang="en-US" sz="1250" dirty="0"/>
          </a:p>
          <a:p>
            <a:pPr indent="0" marL="0">
              <a:lnSpc>
                <a:spcPts val="2000"/>
              </a:lnSpc>
              <a:buNone/>
            </a:pPr>
            <a:r>
              <a:rPr lang="en-US" sz="1250" dirty="0">
                <a:solidFill>
                  <a:srgbClr val="3A4438"/>
                </a:solidFill>
                <a:latin typeface="Yu Gothic" pitchFamily="34" charset="0"/>
                <a:ea typeface="Yu Gothic" pitchFamily="34" charset="-122"/>
                <a:cs typeface="Yu Gothic" pitchFamily="34" charset="-120"/>
              </a:rPr>
              <a:t>シンプルで豊かな時間。</a:t>
            </a:r>
            <a:endParaRPr lang="en-US" sz="1250" dirty="0"/>
          </a:p>
        </p:txBody>
      </p:sp>
      <p:pic>
        <p:nvPicPr>
          <p:cNvPr id="8" name="Image 1" descr="/tmp/claude-0/-home-user-bamboo-hp/ff9834b5-0209-5f50-8799-4952c8f99085/scratchpad/img/sumi.jpg">    </p:cNvPr>
          <p:cNvPicPr>
            <a:picLocks noChangeAspect="1"/>
          </p:cNvPicPr>
          <p:nvPr/>
        </p:nvPicPr>
        <p:blipFill>
          <a:blip r:embed="rId2"/>
          <a:srcRect l="0" r="0" t="0" b="0"/>
          <a:stretch/>
        </p:blipFill>
        <p:spPr>
          <a:xfrm>
            <a:off x="4480560" y="2148840"/>
            <a:ext cx="3291840" cy="2011680"/>
          </a:xfrm>
          <a:prstGeom prst="rect">
            <a:avLst/>
          </a:prstGeom>
        </p:spPr>
      </p:pic>
      <p:sp>
        <p:nvSpPr>
          <p:cNvPr id="9" name="Text 5"/>
          <p:cNvSpPr/>
          <p:nvPr/>
        </p:nvSpPr>
        <p:spPr>
          <a:xfrm>
            <a:off x="4480560" y="4315968"/>
            <a:ext cx="3291840" cy="274320"/>
          </a:xfrm>
          <a:prstGeom prst="rect">
            <a:avLst/>
          </a:prstGeom>
          <a:noFill/>
          <a:ln/>
        </p:spPr>
        <p:txBody>
          <a:bodyPr wrap="square" lIns="0" tIns="0" rIns="0" bIns="0" rtlCol="0" anchor="ctr"/>
          <a:lstStyle/>
          <a:p>
            <a:pPr indent="0" marL="0">
              <a:buNone/>
            </a:pPr>
            <a:r>
              <a:rPr lang="en-US" sz="1050" spc="200" kern="0" dirty="0">
                <a:solidFill>
                  <a:srgbClr val="C8A96E"/>
                </a:solidFill>
                <a:latin typeface="Cambria" pitchFamily="34" charset="0"/>
                <a:ea typeface="Cambria" pitchFamily="34" charset="-122"/>
                <a:cs typeface="Cambria" pitchFamily="34" charset="-120"/>
              </a:rPr>
              <a:t>通 年</a:t>
            </a:r>
            <a:endParaRPr lang="en-US" sz="1050" dirty="0"/>
          </a:p>
        </p:txBody>
      </p:sp>
      <p:sp>
        <p:nvSpPr>
          <p:cNvPr id="10" name="Text 6"/>
          <p:cNvSpPr/>
          <p:nvPr/>
        </p:nvSpPr>
        <p:spPr>
          <a:xfrm>
            <a:off x="4480560" y="4645152"/>
            <a:ext cx="3291840" cy="411480"/>
          </a:xfrm>
          <a:prstGeom prst="rect">
            <a:avLst/>
          </a:prstGeom>
          <a:noFill/>
          <a:ln/>
        </p:spPr>
        <p:txBody>
          <a:bodyPr wrap="square" lIns="0" tIns="0" rIns="0" bIns="0" rtlCol="0" anchor="ctr"/>
          <a:lstStyle/>
          <a:p>
            <a:pPr indent="0" marL="0">
              <a:buNone/>
            </a:pPr>
            <a:r>
              <a:rPr lang="en-US" sz="2000" b="1" dirty="0">
                <a:solidFill>
                  <a:srgbClr val="2C362A"/>
                </a:solidFill>
                <a:latin typeface="Yu Mincho" pitchFamily="34" charset="0"/>
                <a:ea typeface="Yu Mincho" pitchFamily="34" charset="-122"/>
                <a:cs typeface="Yu Mincho" pitchFamily="34" charset="-120"/>
              </a:rPr>
              <a:t>季節の竹林体験</a:t>
            </a:r>
            <a:endParaRPr lang="en-US" sz="2000" dirty="0"/>
          </a:p>
        </p:txBody>
      </p:sp>
      <p:sp>
        <p:nvSpPr>
          <p:cNvPr id="11" name="Text 7"/>
          <p:cNvSpPr/>
          <p:nvPr/>
        </p:nvSpPr>
        <p:spPr>
          <a:xfrm>
            <a:off x="4480560" y="5166360"/>
            <a:ext cx="3291840" cy="868680"/>
          </a:xfrm>
          <a:prstGeom prst="rect">
            <a:avLst/>
          </a:prstGeom>
          <a:noFill/>
          <a:ln/>
        </p:spPr>
        <p:txBody>
          <a:bodyPr wrap="square" lIns="0" tIns="0" rIns="0" bIns="0" rtlCol="0" anchor="ctr"/>
          <a:lstStyle/>
          <a:p>
            <a:pPr indent="0" marL="0">
              <a:lnSpc>
                <a:spcPts val="2000"/>
              </a:lnSpc>
              <a:buNone/>
            </a:pPr>
            <a:r>
              <a:rPr lang="en-US" sz="1250" dirty="0">
                <a:solidFill>
                  <a:srgbClr val="3A4438"/>
                </a:solidFill>
                <a:latin typeface="Yu Gothic" pitchFamily="34" charset="0"/>
                <a:ea typeface="Yu Gothic" pitchFamily="34" charset="-122"/>
                <a:cs typeface="Yu Gothic" pitchFamily="34" charset="-120"/>
              </a:rPr>
              <a:t>竹炭づくり・瞑想ウォーク・焚き火。</a:t>
            </a:r>
            <a:endParaRPr lang="en-US" sz="1250" dirty="0"/>
          </a:p>
          <a:p>
            <a:pPr indent="0" marL="0">
              <a:lnSpc>
                <a:spcPts val="2000"/>
              </a:lnSpc>
              <a:buNone/>
            </a:pPr>
            <a:r>
              <a:rPr lang="en-US" sz="1250" dirty="0">
                <a:solidFill>
                  <a:srgbClr val="3A4438"/>
                </a:solidFill>
                <a:latin typeface="Yu Gothic" pitchFamily="34" charset="0"/>
                <a:ea typeface="Yu Gothic" pitchFamily="34" charset="-122"/>
                <a:cs typeface="Yu Gothic" pitchFamily="34" charset="-120"/>
              </a:rPr>
              <a:t>季節ごとに開催しています。</a:t>
            </a:r>
            <a:endParaRPr lang="en-US" sz="1250" dirty="0"/>
          </a:p>
        </p:txBody>
      </p:sp>
      <p:pic>
        <p:nvPicPr>
          <p:cNvPr id="12" name="Image 2" descr="/tmp/claude-0/-home-user-bamboo-hp/ff9834b5-0209-5f50-8799-4952c8f99085/scratchpad/img/hero.jpg">    </p:cNvPr>
          <p:cNvPicPr>
            <a:picLocks noChangeAspect="1"/>
          </p:cNvPicPr>
          <p:nvPr/>
        </p:nvPicPr>
        <p:blipFill>
          <a:blip r:embed="rId3"/>
          <a:srcRect l="0" r="0" t="0" b="0"/>
          <a:stretch/>
        </p:blipFill>
        <p:spPr>
          <a:xfrm>
            <a:off x="8138160" y="2148840"/>
            <a:ext cx="3291840" cy="2011680"/>
          </a:xfrm>
          <a:prstGeom prst="rect">
            <a:avLst/>
          </a:prstGeom>
        </p:spPr>
      </p:pic>
      <p:sp>
        <p:nvSpPr>
          <p:cNvPr id="13" name="Text 8"/>
          <p:cNvSpPr/>
          <p:nvPr/>
        </p:nvSpPr>
        <p:spPr>
          <a:xfrm>
            <a:off x="8138160" y="4315968"/>
            <a:ext cx="3291840" cy="274320"/>
          </a:xfrm>
          <a:prstGeom prst="rect">
            <a:avLst/>
          </a:prstGeom>
          <a:noFill/>
          <a:ln/>
        </p:spPr>
        <p:txBody>
          <a:bodyPr wrap="square" lIns="0" tIns="0" rIns="0" bIns="0" rtlCol="0" anchor="ctr"/>
          <a:lstStyle/>
          <a:p>
            <a:pPr indent="0" marL="0">
              <a:buNone/>
            </a:pPr>
            <a:r>
              <a:rPr lang="en-US" sz="1050" spc="200" kern="0" dirty="0">
                <a:solidFill>
                  <a:srgbClr val="C8A96E"/>
                </a:solidFill>
                <a:latin typeface="Cambria" pitchFamily="34" charset="0"/>
                <a:ea typeface="Cambria" pitchFamily="34" charset="-122"/>
                <a:cs typeface="Cambria" pitchFamily="34" charset="-120"/>
              </a:rPr>
              <a:t>レ ン タ ル</a:t>
            </a:r>
            <a:endParaRPr lang="en-US" sz="1050" dirty="0"/>
          </a:p>
        </p:txBody>
      </p:sp>
      <p:sp>
        <p:nvSpPr>
          <p:cNvPr id="14" name="Text 9"/>
          <p:cNvSpPr/>
          <p:nvPr/>
        </p:nvSpPr>
        <p:spPr>
          <a:xfrm>
            <a:off x="8138160" y="4645152"/>
            <a:ext cx="3291840" cy="411480"/>
          </a:xfrm>
          <a:prstGeom prst="rect">
            <a:avLst/>
          </a:prstGeom>
          <a:noFill/>
          <a:ln/>
        </p:spPr>
        <p:txBody>
          <a:bodyPr wrap="square" lIns="0" tIns="0" rIns="0" bIns="0" rtlCol="0" anchor="ctr"/>
          <a:lstStyle/>
          <a:p>
            <a:pPr indent="0" marL="0">
              <a:buNone/>
            </a:pPr>
            <a:r>
              <a:rPr lang="en-US" sz="2000" b="1" dirty="0">
                <a:solidFill>
                  <a:srgbClr val="2C362A"/>
                </a:solidFill>
                <a:latin typeface="Yu Mincho" pitchFamily="34" charset="0"/>
                <a:ea typeface="Yu Mincho" pitchFamily="34" charset="-122"/>
                <a:cs typeface="Yu Mincho" pitchFamily="34" charset="-120"/>
              </a:rPr>
              <a:t>竹林レンタル</a:t>
            </a:r>
            <a:endParaRPr lang="en-US" sz="2000" dirty="0"/>
          </a:p>
        </p:txBody>
      </p:sp>
      <p:sp>
        <p:nvSpPr>
          <p:cNvPr id="15" name="Text 10"/>
          <p:cNvSpPr/>
          <p:nvPr/>
        </p:nvSpPr>
        <p:spPr>
          <a:xfrm>
            <a:off x="8138160" y="5166360"/>
            <a:ext cx="3291840" cy="868680"/>
          </a:xfrm>
          <a:prstGeom prst="rect">
            <a:avLst/>
          </a:prstGeom>
          <a:noFill/>
          <a:ln/>
        </p:spPr>
        <p:txBody>
          <a:bodyPr wrap="square" lIns="0" tIns="0" rIns="0" bIns="0" rtlCol="0" anchor="ctr"/>
          <a:lstStyle/>
          <a:p>
            <a:pPr indent="0" marL="0">
              <a:lnSpc>
                <a:spcPts val="2000"/>
              </a:lnSpc>
              <a:buNone/>
            </a:pPr>
            <a:r>
              <a:rPr lang="en-US" sz="1250" dirty="0">
                <a:solidFill>
                  <a:srgbClr val="3A4438"/>
                </a:solidFill>
                <a:latin typeface="Yu Gothic" pitchFamily="34" charset="0"/>
                <a:ea typeface="Yu Gothic" pitchFamily="34" charset="-122"/>
                <a:cs typeface="Yu Gothic" pitchFamily="34" charset="-120"/>
              </a:rPr>
              <a:t>竹林空間を丸ごと。撮影・イベント・</a:t>
            </a:r>
            <a:endParaRPr lang="en-US" sz="1250" dirty="0"/>
          </a:p>
          <a:p>
            <a:pPr indent="0" marL="0">
              <a:lnSpc>
                <a:spcPts val="2000"/>
              </a:lnSpc>
              <a:buNone/>
            </a:pPr>
            <a:r>
              <a:rPr lang="en-US" sz="1250" dirty="0">
                <a:solidFill>
                  <a:srgbClr val="3A4438"/>
                </a:solidFill>
                <a:latin typeface="Yu Gothic" pitchFamily="34" charset="0"/>
                <a:ea typeface="Yu Gothic" pitchFamily="34" charset="-122"/>
                <a:cs typeface="Yu Gothic" pitchFamily="34" charset="-120"/>
              </a:rPr>
              <a:t>ワークショップにお使いいただけます。</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F8F6"/>
        </a:solidFill>
      </p:bgPr>
    </p:bg>
    <p:spTree>
      <p:nvGrpSpPr>
        <p:cNvPr id="1" name=""/>
        <p:cNvGrpSpPr/>
        <p:nvPr/>
      </p:nvGrpSpPr>
      <p:grpSpPr>
        <a:xfrm>
          <a:off x="0" y="0"/>
          <a:ext cx="0" cy="0"/>
          <a:chOff x="0" y="0"/>
          <a:chExt cx="0" cy="0"/>
        </a:xfrm>
      </p:grpSpPr>
      <p:pic>
        <p:nvPicPr>
          <p:cNvPr id="2" name="Image 0" descr="/tmp/claude-0/-home-user-bamboo-hp/ff9834b5-0209-5f50-8799-4952c8f99085/scratchpad/img/kids.jpg">    </p:cNvPr>
          <p:cNvPicPr>
            <a:picLocks noChangeAspect="1"/>
          </p:cNvPicPr>
          <p:nvPr/>
        </p:nvPicPr>
        <p:blipFill>
          <a:blip r:embed="rId1"/>
          <a:srcRect l="0" r="0" t="0" b="0"/>
          <a:stretch/>
        </p:blipFill>
        <p:spPr>
          <a:xfrm>
            <a:off x="6400800" y="0"/>
            <a:ext cx="5760720" cy="6858000"/>
          </a:xfrm>
          <a:prstGeom prst="rect">
            <a:avLst/>
          </a:prstGeom>
        </p:spPr>
      </p:pic>
      <p:sp>
        <p:nvSpPr>
          <p:cNvPr id="3" name="Text 0"/>
          <p:cNvSpPr/>
          <p:nvPr/>
        </p:nvSpPr>
        <p:spPr>
          <a:xfrm>
            <a:off x="777240" y="1463040"/>
            <a:ext cx="5486400" cy="256032"/>
          </a:xfrm>
          <a:prstGeom prst="rect">
            <a:avLst/>
          </a:prstGeom>
          <a:noFill/>
          <a:ln/>
        </p:spPr>
        <p:txBody>
          <a:bodyPr wrap="square" lIns="0" tIns="0" rIns="0" bIns="0" rtlCol="0" anchor="ctr"/>
          <a:lstStyle/>
          <a:p>
            <a:pPr indent="0" marL="0">
              <a:buNone/>
            </a:pPr>
            <a:r>
              <a:rPr lang="en-US" sz="1100" spc="300" kern="0" dirty="0">
                <a:solidFill>
                  <a:srgbClr val="C8A96E"/>
                </a:solidFill>
                <a:latin typeface="Cambria" pitchFamily="34" charset="0"/>
                <a:ea typeface="Cambria" pitchFamily="34" charset="-122"/>
                <a:cs typeface="Cambria" pitchFamily="34" charset="-120"/>
              </a:rPr>
              <a:t>H A N D S</a:t>
            </a:r>
            <a:endParaRPr lang="en-US" sz="1100" dirty="0"/>
          </a:p>
        </p:txBody>
      </p:sp>
      <p:sp>
        <p:nvSpPr>
          <p:cNvPr id="4" name="Text 1"/>
          <p:cNvSpPr/>
          <p:nvPr/>
        </p:nvSpPr>
        <p:spPr>
          <a:xfrm>
            <a:off x="777240" y="1828800"/>
            <a:ext cx="5120640" cy="1288288"/>
          </a:xfrm>
          <a:prstGeom prst="rect">
            <a:avLst/>
          </a:prstGeom>
          <a:noFill/>
          <a:ln/>
        </p:spPr>
        <p:txBody>
          <a:bodyPr wrap="square" lIns="0" tIns="0" rIns="0" bIns="0" rtlCol="0" anchor="t"/>
          <a:lstStyle/>
          <a:p>
            <a:pPr indent="0" marL="0">
              <a:lnSpc>
                <a:spcPts val="4640"/>
              </a:lnSpc>
              <a:buNone/>
            </a:pPr>
            <a:r>
              <a:rPr lang="en-US" sz="3200" b="1" dirty="0">
                <a:solidFill>
                  <a:srgbClr val="2C362A"/>
                </a:solidFill>
                <a:latin typeface="Yu Mincho" pitchFamily="34" charset="0"/>
                <a:ea typeface="Yu Mincho" pitchFamily="34" charset="-122"/>
                <a:cs typeface="Yu Mincho" pitchFamily="34" charset="-120"/>
              </a:rPr>
              <a:t>竹は、いちばん身近な</a:t>
            </a:r>
            <a:endParaRPr lang="en-US" sz="3200" dirty="0"/>
          </a:p>
          <a:p>
            <a:pPr indent="0" marL="0">
              <a:lnSpc>
                <a:spcPts val="4640"/>
              </a:lnSpc>
              <a:buNone/>
            </a:pPr>
            <a:r>
              <a:rPr lang="en-US" sz="3200" b="1" dirty="0">
                <a:solidFill>
                  <a:srgbClr val="2C362A"/>
                </a:solidFill>
                <a:latin typeface="Yu Mincho" pitchFamily="34" charset="0"/>
                <a:ea typeface="Yu Mincho" pitchFamily="34" charset="-122"/>
                <a:cs typeface="Yu Mincho" pitchFamily="34" charset="-120"/>
              </a:rPr>
              <a:t>「使える自然」。</a:t>
            </a:r>
            <a:endParaRPr lang="en-US" sz="3200" dirty="0"/>
          </a:p>
        </p:txBody>
      </p:sp>
      <p:sp>
        <p:nvSpPr>
          <p:cNvPr id="5" name="Text 2"/>
          <p:cNvSpPr/>
          <p:nvPr/>
        </p:nvSpPr>
        <p:spPr>
          <a:xfrm>
            <a:off x="777240" y="3794760"/>
            <a:ext cx="5120640" cy="2377440"/>
          </a:xfrm>
          <a:prstGeom prst="rect">
            <a:avLst/>
          </a:prstGeom>
          <a:noFill/>
          <a:ln/>
        </p:spPr>
        <p:txBody>
          <a:bodyPr wrap="square" lIns="0" tIns="0" rIns="0" bIns="0" rtlCol="0" anchor="t"/>
          <a:lstStyle/>
          <a:p>
            <a:pPr indent="0" marL="0">
              <a:lnSpc>
                <a:spcPts val="2683"/>
              </a:lnSpc>
              <a:buNone/>
            </a:pPr>
            <a:r>
              <a:rPr lang="en-US" sz="1450" dirty="0">
                <a:solidFill>
                  <a:srgbClr val="3A4438"/>
                </a:solidFill>
                <a:latin typeface="Yu Gothic" pitchFamily="34" charset="0"/>
                <a:ea typeface="Yu Gothic" pitchFamily="34" charset="-122"/>
                <a:cs typeface="Yu Gothic" pitchFamily="34" charset="-120"/>
              </a:rPr>
              <a:t>竹を切って、やすりをかけて、名前を書く。</a:t>
            </a:r>
            <a:endParaRPr lang="en-US" sz="1450" dirty="0"/>
          </a:p>
          <a:p>
            <a:pPr indent="0" marL="0">
              <a:lnSpc>
                <a:spcPts val="2683"/>
              </a:lnSpc>
              <a:buNone/>
            </a:pPr>
            <a:r>
              <a:rPr lang="en-US" sz="1450" dirty="0">
                <a:solidFill>
                  <a:srgbClr val="3A4438"/>
                </a:solidFill>
                <a:latin typeface="Yu Gothic" pitchFamily="34" charset="0"/>
                <a:ea typeface="Yu Gothic" pitchFamily="34" charset="-122"/>
                <a:cs typeface="Yu Gothic" pitchFamily="34" charset="-120"/>
              </a:rPr>
              <a:t>それだけで、子どもは自分の名札を</a:t>
            </a:r>
            <a:endParaRPr lang="en-US" sz="1450" dirty="0"/>
          </a:p>
          <a:p>
            <a:pPr indent="0" marL="0">
              <a:lnSpc>
                <a:spcPts val="2683"/>
              </a:lnSpc>
              <a:buNone/>
            </a:pPr>
            <a:r>
              <a:rPr lang="en-US" sz="1450" dirty="0">
                <a:solidFill>
                  <a:srgbClr val="3A4438"/>
                </a:solidFill>
                <a:latin typeface="Yu Gothic" pitchFamily="34" charset="0"/>
                <a:ea typeface="Yu Gothic" pitchFamily="34" charset="-122"/>
                <a:cs typeface="Yu Gothic" pitchFamily="34" charset="-120"/>
              </a:rPr>
              <a:t>一生ぶん覚えます。</a:t>
            </a:r>
            <a:endParaRPr lang="en-US" sz="1450" dirty="0"/>
          </a:p>
          <a:p>
            <a:pPr indent="0" marL="0">
              <a:lnSpc>
                <a:spcPts val="2683"/>
              </a:lnSpc>
              <a:buNone/>
            </a:pPr>
            <a:endParaRPr lang="en-US" sz="1450" dirty="0"/>
          </a:p>
          <a:p>
            <a:pPr indent="0" marL="0">
              <a:lnSpc>
                <a:spcPts val="2683"/>
              </a:lnSpc>
              <a:buNone/>
            </a:pPr>
            <a:r>
              <a:rPr lang="en-US" sz="1450" dirty="0">
                <a:solidFill>
                  <a:srgbClr val="3A4438"/>
                </a:solidFill>
                <a:latin typeface="Yu Gothic" pitchFamily="34" charset="0"/>
                <a:ea typeface="Yu Gothic" pitchFamily="34" charset="-122"/>
                <a:cs typeface="Yu Gothic" pitchFamily="34" charset="-120"/>
              </a:rPr>
              <a:t>放っておけば厄介者、手を入れれば道具になる。</a:t>
            </a:r>
            <a:endParaRPr lang="en-US" sz="1450" dirty="0"/>
          </a:p>
          <a:p>
            <a:pPr indent="0" marL="0">
              <a:lnSpc>
                <a:spcPts val="2683"/>
              </a:lnSpc>
              <a:buNone/>
            </a:pPr>
            <a:r>
              <a:rPr lang="en-US" sz="1450" dirty="0">
                <a:solidFill>
                  <a:srgbClr val="3A4438"/>
                </a:solidFill>
                <a:latin typeface="Yu Gothic" pitchFamily="34" charset="0"/>
                <a:ea typeface="Yu Gothic" pitchFamily="34" charset="-122"/>
                <a:cs typeface="Yu Gothic" pitchFamily="34" charset="-120"/>
              </a:rPr>
              <a:t>その両方を、同じ日に、同じ場所で見せられる</a:t>
            </a:r>
            <a:endParaRPr lang="en-US" sz="1450" dirty="0"/>
          </a:p>
          <a:p>
            <a:pPr indent="0" marL="0">
              <a:lnSpc>
                <a:spcPts val="2683"/>
              </a:lnSpc>
              <a:buNone/>
            </a:pPr>
            <a:r>
              <a:rPr lang="en-US" sz="1450" dirty="0">
                <a:solidFill>
                  <a:srgbClr val="3A4438"/>
                </a:solidFill>
                <a:latin typeface="Yu Gothic" pitchFamily="34" charset="0"/>
                <a:ea typeface="Yu Gothic" pitchFamily="34" charset="-122"/>
                <a:cs typeface="Yu Gothic" pitchFamily="34" charset="-120"/>
              </a:rPr>
              <a:t>素材はそう多くありません。</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C362A"/>
        </a:solidFill>
      </p:bgPr>
    </p:bg>
    <p:spTree>
      <p:nvGrpSpPr>
        <p:cNvPr id="1" name=""/>
        <p:cNvGrpSpPr/>
        <p:nvPr/>
      </p:nvGrpSpPr>
      <p:grpSpPr>
        <a:xfrm>
          <a:off x="0" y="0"/>
          <a:ext cx="0" cy="0"/>
          <a:chOff x="0" y="0"/>
          <a:chExt cx="0" cy="0"/>
        </a:xfrm>
      </p:grpSpPr>
      <p:pic>
        <p:nvPicPr>
          <p:cNvPr id="2" name="Image 0" descr="/tmp/claude-0/-home-user-bamboo-hp/ff9834b5-0209-5f50-8799-4952c8f99085/scratchpad/img/path.jpg">    </p:cNvPr>
          <p:cNvPicPr>
            <a:picLocks noChangeAspect="1"/>
          </p:cNvPicPr>
          <p:nvPr/>
        </p:nvPicPr>
        <p:blipFill>
          <a:blip r:embed="rId1"/>
          <a:srcRect l="0" r="0" t="0" b="0"/>
          <a:stretch/>
        </p:blipFill>
        <p:spPr>
          <a:xfrm>
            <a:off x="0" y="-1097280"/>
            <a:ext cx="12161520" cy="9052560"/>
          </a:xfrm>
          <a:prstGeom prst="rect">
            <a:avLst/>
          </a:prstGeom>
        </p:spPr>
      </p:pic>
      <p:sp>
        <p:nvSpPr>
          <p:cNvPr id="3" name="Shape 0"/>
          <p:cNvSpPr/>
          <p:nvPr/>
        </p:nvSpPr>
        <p:spPr>
          <a:xfrm>
            <a:off x="0" y="0"/>
            <a:ext cx="12161520" cy="6858000"/>
          </a:xfrm>
          <a:prstGeom prst="rect">
            <a:avLst/>
          </a:prstGeom>
          <a:solidFill>
            <a:srgbClr val="2C362A">
              <a:alpha val="72000"/>
            </a:srgbClr>
          </a:solidFill>
          <a:ln/>
        </p:spPr>
      </p:sp>
      <p:sp>
        <p:nvSpPr>
          <p:cNvPr id="4" name="Text 1"/>
          <p:cNvSpPr/>
          <p:nvPr/>
        </p:nvSpPr>
        <p:spPr>
          <a:xfrm>
            <a:off x="1188720" y="2286000"/>
            <a:ext cx="9784080" cy="2194560"/>
          </a:xfrm>
          <a:prstGeom prst="rect">
            <a:avLst/>
          </a:prstGeom>
          <a:noFill/>
          <a:ln/>
        </p:spPr>
        <p:txBody>
          <a:bodyPr wrap="square" lIns="0" tIns="0" rIns="0" bIns="0" rtlCol="0" anchor="ctr"/>
          <a:lstStyle/>
          <a:p>
            <a:pPr algn="ctr" indent="0" marL="0">
              <a:lnSpc>
                <a:spcPts val="6200"/>
              </a:lnSpc>
              <a:buNone/>
            </a:pPr>
            <a:r>
              <a:rPr lang="en-US" sz="3400" b="1" spc="300" kern="0" dirty="0">
                <a:solidFill>
                  <a:srgbClr val="FFFFFF"/>
                </a:solidFill>
                <a:latin typeface="Yu Mincho" pitchFamily="34" charset="0"/>
                <a:ea typeface="Yu Mincho" pitchFamily="34" charset="-122"/>
                <a:cs typeface="Yu Mincho" pitchFamily="34" charset="-120"/>
              </a:rPr>
              <a:t>竹林は、ただの場所ではなく、</a:t>
            </a:r>
            <a:endParaRPr lang="en-US" sz="3400" dirty="0"/>
          </a:p>
          <a:p>
            <a:pPr algn="ctr" indent="0" marL="0">
              <a:lnSpc>
                <a:spcPts val="6200"/>
              </a:lnSpc>
              <a:buNone/>
            </a:pPr>
            <a:r>
              <a:rPr lang="en-US" sz="3400" b="1" spc="300" kern="0" dirty="0">
                <a:solidFill>
                  <a:srgbClr val="FFFFFF"/>
                </a:solidFill>
                <a:latin typeface="Yu Mincho" pitchFamily="34" charset="0"/>
                <a:ea typeface="Yu Mincho" pitchFamily="34" charset="-122"/>
                <a:cs typeface="Yu Mincho" pitchFamily="34" charset="-120"/>
              </a:rPr>
              <a:t>あなた自身と向き合うための空間です。</a:t>
            </a:r>
            <a:endParaRPr lang="en-US" sz="3400" dirty="0"/>
          </a:p>
        </p:txBody>
      </p:sp>
      <p:sp>
        <p:nvSpPr>
          <p:cNvPr id="5" name="Text 2"/>
          <p:cNvSpPr/>
          <p:nvPr/>
        </p:nvSpPr>
        <p:spPr>
          <a:xfrm>
            <a:off x="1188720" y="4709160"/>
            <a:ext cx="9784080" cy="320040"/>
          </a:xfrm>
          <a:prstGeom prst="rect">
            <a:avLst/>
          </a:prstGeom>
          <a:noFill/>
          <a:ln/>
        </p:spPr>
        <p:txBody>
          <a:bodyPr wrap="square" lIns="0" tIns="0" rIns="0" bIns="0" rtlCol="0" anchor="ctr"/>
          <a:lstStyle/>
          <a:p>
            <a:pPr algn="ctr" indent="0" marL="0">
              <a:buNone/>
            </a:pPr>
            <a:r>
              <a:rPr lang="en-US" sz="1100" spc="300" kern="0" dirty="0">
                <a:solidFill>
                  <a:srgbClr val="C8A96E"/>
                </a:solidFill>
                <a:latin typeface="Cambria" pitchFamily="34" charset="0"/>
                <a:ea typeface="Cambria" pitchFamily="34" charset="-122"/>
                <a:cs typeface="Cambria" pitchFamily="34" charset="-120"/>
              </a:rPr>
              <a:t>K A S U M I G A U R A   B A M B O O   B A S 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F8F6"/>
        </a:solidFill>
      </p:bgPr>
    </p:bg>
    <p:spTree>
      <p:nvGrpSpPr>
        <p:cNvPr id="1" name=""/>
        <p:cNvGrpSpPr/>
        <p:nvPr/>
      </p:nvGrpSpPr>
      <p:grpSpPr>
        <a:xfrm>
          <a:off x="0" y="0"/>
          <a:ext cx="0" cy="0"/>
          <a:chOff x="0" y="0"/>
          <a:chExt cx="0" cy="0"/>
        </a:xfrm>
      </p:grpSpPr>
      <p:sp>
        <p:nvSpPr>
          <p:cNvPr id="2" name="Text 0"/>
          <p:cNvSpPr/>
          <p:nvPr/>
        </p:nvSpPr>
        <p:spPr>
          <a:xfrm>
            <a:off x="822960" y="731520"/>
            <a:ext cx="5486400" cy="256032"/>
          </a:xfrm>
          <a:prstGeom prst="rect">
            <a:avLst/>
          </a:prstGeom>
          <a:noFill/>
          <a:ln/>
        </p:spPr>
        <p:txBody>
          <a:bodyPr wrap="square" lIns="0" tIns="0" rIns="0" bIns="0" rtlCol="0" anchor="ctr"/>
          <a:lstStyle/>
          <a:p>
            <a:pPr indent="0" marL="0">
              <a:buNone/>
            </a:pPr>
            <a:r>
              <a:rPr lang="en-US" sz="1100" spc="300" kern="0" dirty="0">
                <a:solidFill>
                  <a:srgbClr val="C8A96E"/>
                </a:solidFill>
                <a:latin typeface="Cambria" pitchFamily="34" charset="0"/>
                <a:ea typeface="Cambria" pitchFamily="34" charset="-122"/>
                <a:cs typeface="Cambria" pitchFamily="34" charset="-120"/>
              </a:rPr>
              <a:t>A H E A D</a:t>
            </a:r>
            <a:endParaRPr lang="en-US" sz="1100" dirty="0"/>
          </a:p>
        </p:txBody>
      </p:sp>
      <p:sp>
        <p:nvSpPr>
          <p:cNvPr id="3" name="Text 1"/>
          <p:cNvSpPr/>
          <p:nvPr/>
        </p:nvSpPr>
        <p:spPr>
          <a:xfrm>
            <a:off x="822960" y="1097280"/>
            <a:ext cx="6766560" cy="1288288"/>
          </a:xfrm>
          <a:prstGeom prst="rect">
            <a:avLst/>
          </a:prstGeom>
          <a:noFill/>
          <a:ln/>
        </p:spPr>
        <p:txBody>
          <a:bodyPr wrap="square" lIns="0" tIns="0" rIns="0" bIns="0" rtlCol="0" anchor="t"/>
          <a:lstStyle/>
          <a:p>
            <a:pPr indent="0" marL="0">
              <a:lnSpc>
                <a:spcPts val="4640"/>
              </a:lnSpc>
              <a:buNone/>
            </a:pPr>
            <a:r>
              <a:rPr lang="en-US" sz="3200" b="1" dirty="0">
                <a:solidFill>
                  <a:srgbClr val="2C362A"/>
                </a:solidFill>
                <a:latin typeface="Yu Mincho" pitchFamily="34" charset="0"/>
                <a:ea typeface="Yu Mincho" pitchFamily="34" charset="-122"/>
                <a:cs typeface="Yu Mincho" pitchFamily="34" charset="-120"/>
              </a:rPr>
              <a:t>「守る」場所ではなく、</a:t>
            </a:r>
            <a:endParaRPr lang="en-US" sz="3200" dirty="0"/>
          </a:p>
          <a:p>
            <a:pPr indent="0" marL="0">
              <a:lnSpc>
                <a:spcPts val="4640"/>
              </a:lnSpc>
              <a:buNone/>
            </a:pPr>
            <a:r>
              <a:rPr lang="en-US" sz="3200" b="1" dirty="0">
                <a:solidFill>
                  <a:srgbClr val="2C362A"/>
                </a:solidFill>
                <a:latin typeface="Yu Mincho" pitchFamily="34" charset="0"/>
                <a:ea typeface="Yu Mincho" pitchFamily="34" charset="-122"/>
                <a:cs typeface="Yu Mincho" pitchFamily="34" charset="-120"/>
              </a:rPr>
              <a:t>「使い続ける」場所へ。</a:t>
            </a:r>
            <a:endParaRPr lang="en-US" sz="3200" dirty="0"/>
          </a:p>
        </p:txBody>
      </p:sp>
      <p:sp>
        <p:nvSpPr>
          <p:cNvPr id="4" name="Text 2"/>
          <p:cNvSpPr/>
          <p:nvPr/>
        </p:nvSpPr>
        <p:spPr>
          <a:xfrm>
            <a:off x="822960" y="3246120"/>
            <a:ext cx="6766560" cy="1280160"/>
          </a:xfrm>
          <a:prstGeom prst="rect">
            <a:avLst/>
          </a:prstGeom>
          <a:noFill/>
          <a:ln/>
        </p:spPr>
        <p:txBody>
          <a:bodyPr wrap="square" lIns="0" tIns="0" rIns="0" bIns="0" rtlCol="0" anchor="t"/>
          <a:lstStyle/>
          <a:p>
            <a:pPr indent="0" marL="0">
              <a:lnSpc>
                <a:spcPts val="2683"/>
              </a:lnSpc>
              <a:buNone/>
            </a:pPr>
            <a:r>
              <a:rPr lang="en-US" sz="1450" dirty="0">
                <a:solidFill>
                  <a:srgbClr val="3A4438"/>
                </a:solidFill>
                <a:latin typeface="Yu Gothic" pitchFamily="34" charset="0"/>
                <a:ea typeface="Yu Gothic" pitchFamily="34" charset="-122"/>
                <a:cs typeface="Yu Gothic" pitchFamily="34" charset="-120"/>
              </a:rPr>
              <a:t>竹林は一人では回りません。</a:t>
            </a:r>
            <a:endParaRPr lang="en-US" sz="1450" dirty="0"/>
          </a:p>
          <a:p>
            <a:pPr indent="0" marL="0">
              <a:lnSpc>
                <a:spcPts val="2683"/>
              </a:lnSpc>
              <a:buNone/>
            </a:pPr>
            <a:r>
              <a:rPr lang="en-US" sz="1450" dirty="0">
                <a:solidFill>
                  <a:srgbClr val="3A4438"/>
                </a:solidFill>
                <a:latin typeface="Yu Gothic" pitchFamily="34" charset="0"/>
                <a:ea typeface="Yu Gothic" pitchFamily="34" charset="-122"/>
                <a:cs typeface="Yu Gothic" pitchFamily="34" charset="-120"/>
              </a:rPr>
              <a:t>体験に来る人、レンタルで使う人、一緒に手を入れてくれる人。</a:t>
            </a:r>
            <a:endParaRPr lang="en-US" sz="1450" dirty="0"/>
          </a:p>
          <a:p>
            <a:pPr indent="0" marL="0">
              <a:lnSpc>
                <a:spcPts val="2683"/>
              </a:lnSpc>
              <a:buNone/>
            </a:pPr>
            <a:r>
              <a:rPr lang="en-US" sz="1450" dirty="0">
                <a:solidFill>
                  <a:srgbClr val="3A4438"/>
                </a:solidFill>
                <a:latin typeface="Yu Gothic" pitchFamily="34" charset="0"/>
                <a:ea typeface="Yu Gothic" pitchFamily="34" charset="-122"/>
                <a:cs typeface="Yu Gothic" pitchFamily="34" charset="-120"/>
              </a:rPr>
              <a:t>関わる人が増えるほど、竹林は明るくなります。</a:t>
            </a:r>
            <a:endParaRPr lang="en-US" sz="1450" dirty="0"/>
          </a:p>
        </p:txBody>
      </p:sp>
      <p:sp>
        <p:nvSpPr>
          <p:cNvPr id="5" name="Shape 3"/>
          <p:cNvSpPr/>
          <p:nvPr/>
        </p:nvSpPr>
        <p:spPr>
          <a:xfrm>
            <a:off x="822960" y="4654296"/>
            <a:ext cx="347472" cy="347472"/>
          </a:xfrm>
          <a:prstGeom prst="ellipse">
            <a:avLst/>
          </a:prstGeom>
          <a:ln w="12700">
            <a:solidFill>
              <a:srgbClr val="C8A96E"/>
            </a:solidFill>
            <a:prstDash val="solid"/>
          </a:ln>
        </p:spPr>
      </p:sp>
      <p:sp>
        <p:nvSpPr>
          <p:cNvPr id="6" name="Text 4"/>
          <p:cNvSpPr/>
          <p:nvPr/>
        </p:nvSpPr>
        <p:spPr>
          <a:xfrm>
            <a:off x="822960" y="4672584"/>
            <a:ext cx="347472" cy="310896"/>
          </a:xfrm>
          <a:prstGeom prst="rect">
            <a:avLst/>
          </a:prstGeom>
          <a:noFill/>
          <a:ln/>
        </p:spPr>
        <p:txBody>
          <a:bodyPr wrap="square" lIns="0" tIns="0" rIns="0" bIns="0" rtlCol="0" anchor="ctr"/>
          <a:lstStyle/>
          <a:p>
            <a:pPr algn="ctr" indent="0" marL="0">
              <a:buNone/>
            </a:pPr>
            <a:r>
              <a:rPr lang="en-US" sz="1100" dirty="0">
                <a:solidFill>
                  <a:srgbClr val="C8A96E"/>
                </a:solidFill>
                <a:latin typeface="Cambria" pitchFamily="34" charset="0"/>
                <a:ea typeface="Cambria" pitchFamily="34" charset="-122"/>
                <a:cs typeface="Cambria" pitchFamily="34" charset="-120"/>
              </a:rPr>
              <a:t>1</a:t>
            </a:r>
            <a:endParaRPr lang="en-US" sz="1100" dirty="0"/>
          </a:p>
        </p:txBody>
      </p:sp>
      <p:sp>
        <p:nvSpPr>
          <p:cNvPr id="7" name="Text 5"/>
          <p:cNvSpPr/>
          <p:nvPr/>
        </p:nvSpPr>
        <p:spPr>
          <a:xfrm>
            <a:off x="1353312" y="4617720"/>
            <a:ext cx="2651760" cy="384048"/>
          </a:xfrm>
          <a:prstGeom prst="rect">
            <a:avLst/>
          </a:prstGeom>
          <a:noFill/>
          <a:ln/>
        </p:spPr>
        <p:txBody>
          <a:bodyPr wrap="square" lIns="0" tIns="0" rIns="0" bIns="0" rtlCol="0" anchor="ctr"/>
          <a:lstStyle/>
          <a:p>
            <a:pPr indent="0" marL="0">
              <a:buNone/>
            </a:pPr>
            <a:r>
              <a:rPr lang="en-US" sz="1400" b="1" dirty="0">
                <a:solidFill>
                  <a:srgbClr val="2C362A"/>
                </a:solidFill>
                <a:latin typeface="Yu Mincho" pitchFamily="34" charset="0"/>
                <a:ea typeface="Yu Mincho" pitchFamily="34" charset="-122"/>
                <a:cs typeface="Yu Mincho" pitchFamily="34" charset="-120"/>
              </a:rPr>
              <a:t>体 験 に 来 る</a:t>
            </a:r>
            <a:endParaRPr lang="en-US" sz="1400" dirty="0"/>
          </a:p>
        </p:txBody>
      </p:sp>
      <p:sp>
        <p:nvSpPr>
          <p:cNvPr id="8" name="Text 6"/>
          <p:cNvSpPr/>
          <p:nvPr/>
        </p:nvSpPr>
        <p:spPr>
          <a:xfrm>
            <a:off x="4069080" y="4617720"/>
            <a:ext cx="3566160" cy="384048"/>
          </a:xfrm>
          <a:prstGeom prst="rect">
            <a:avLst/>
          </a:prstGeom>
          <a:noFill/>
          <a:ln/>
        </p:spPr>
        <p:txBody>
          <a:bodyPr wrap="square" lIns="0" tIns="0" rIns="0" bIns="0" rtlCol="0" anchor="ctr"/>
          <a:lstStyle/>
          <a:p>
            <a:pPr indent="0" marL="0">
              <a:buNone/>
            </a:pPr>
            <a:r>
              <a:rPr lang="en-US" sz="1200" dirty="0">
                <a:solidFill>
                  <a:srgbClr val="3A4438"/>
                </a:solidFill>
                <a:latin typeface="Yu Gothic" pitchFamily="34" charset="0"/>
                <a:ea typeface="Yu Gothic" pitchFamily="34" charset="-122"/>
                <a:cs typeface="Yu Gothic" pitchFamily="34" charset="-120"/>
              </a:rPr>
              <a:t>季節の会に参加する。まずはここから。</a:t>
            </a:r>
            <a:endParaRPr lang="en-US" sz="1200" dirty="0"/>
          </a:p>
        </p:txBody>
      </p:sp>
      <p:sp>
        <p:nvSpPr>
          <p:cNvPr id="9" name="Shape 7"/>
          <p:cNvSpPr/>
          <p:nvPr/>
        </p:nvSpPr>
        <p:spPr>
          <a:xfrm>
            <a:off x="822960" y="5312664"/>
            <a:ext cx="347472" cy="347472"/>
          </a:xfrm>
          <a:prstGeom prst="ellipse">
            <a:avLst/>
          </a:prstGeom>
          <a:ln w="12700">
            <a:solidFill>
              <a:srgbClr val="C8A96E"/>
            </a:solidFill>
            <a:prstDash val="solid"/>
          </a:ln>
        </p:spPr>
      </p:sp>
      <p:sp>
        <p:nvSpPr>
          <p:cNvPr id="10" name="Text 8"/>
          <p:cNvSpPr/>
          <p:nvPr/>
        </p:nvSpPr>
        <p:spPr>
          <a:xfrm>
            <a:off x="822960" y="5330952"/>
            <a:ext cx="347472" cy="310896"/>
          </a:xfrm>
          <a:prstGeom prst="rect">
            <a:avLst/>
          </a:prstGeom>
          <a:noFill/>
          <a:ln/>
        </p:spPr>
        <p:txBody>
          <a:bodyPr wrap="square" lIns="0" tIns="0" rIns="0" bIns="0" rtlCol="0" anchor="ctr"/>
          <a:lstStyle/>
          <a:p>
            <a:pPr algn="ctr" indent="0" marL="0">
              <a:buNone/>
            </a:pPr>
            <a:r>
              <a:rPr lang="en-US" sz="1100" dirty="0">
                <a:solidFill>
                  <a:srgbClr val="C8A96E"/>
                </a:solidFill>
                <a:latin typeface="Cambria" pitchFamily="34" charset="0"/>
                <a:ea typeface="Cambria" pitchFamily="34" charset="-122"/>
                <a:cs typeface="Cambria" pitchFamily="34" charset="-120"/>
              </a:rPr>
              <a:t>2</a:t>
            </a:r>
            <a:endParaRPr lang="en-US" sz="1100" dirty="0"/>
          </a:p>
        </p:txBody>
      </p:sp>
      <p:sp>
        <p:nvSpPr>
          <p:cNvPr id="11" name="Text 9"/>
          <p:cNvSpPr/>
          <p:nvPr/>
        </p:nvSpPr>
        <p:spPr>
          <a:xfrm>
            <a:off x="1353312" y="5276088"/>
            <a:ext cx="2651760" cy="384048"/>
          </a:xfrm>
          <a:prstGeom prst="rect">
            <a:avLst/>
          </a:prstGeom>
          <a:noFill/>
          <a:ln/>
        </p:spPr>
        <p:txBody>
          <a:bodyPr wrap="square" lIns="0" tIns="0" rIns="0" bIns="0" rtlCol="0" anchor="ctr"/>
          <a:lstStyle/>
          <a:p>
            <a:pPr indent="0" marL="0">
              <a:buNone/>
            </a:pPr>
            <a:r>
              <a:rPr lang="en-US" sz="1400" b="1" dirty="0">
                <a:solidFill>
                  <a:srgbClr val="2C362A"/>
                </a:solidFill>
                <a:latin typeface="Yu Mincho" pitchFamily="34" charset="0"/>
                <a:ea typeface="Yu Mincho" pitchFamily="34" charset="-122"/>
                <a:cs typeface="Yu Mincho" pitchFamily="34" charset="-120"/>
              </a:rPr>
              <a:t>場 と し て 使 う</a:t>
            </a:r>
            <a:endParaRPr lang="en-US" sz="1400" dirty="0"/>
          </a:p>
        </p:txBody>
      </p:sp>
      <p:sp>
        <p:nvSpPr>
          <p:cNvPr id="12" name="Text 10"/>
          <p:cNvSpPr/>
          <p:nvPr/>
        </p:nvSpPr>
        <p:spPr>
          <a:xfrm>
            <a:off x="4069080" y="5276088"/>
            <a:ext cx="3566160" cy="384048"/>
          </a:xfrm>
          <a:prstGeom prst="rect">
            <a:avLst/>
          </a:prstGeom>
          <a:noFill/>
          <a:ln/>
        </p:spPr>
        <p:txBody>
          <a:bodyPr wrap="square" lIns="0" tIns="0" rIns="0" bIns="0" rtlCol="0" anchor="ctr"/>
          <a:lstStyle/>
          <a:p>
            <a:pPr indent="0" marL="0">
              <a:buNone/>
            </a:pPr>
            <a:r>
              <a:rPr lang="en-US" sz="1200" dirty="0">
                <a:solidFill>
                  <a:srgbClr val="3A4438"/>
                </a:solidFill>
                <a:latin typeface="Yu Gothic" pitchFamily="34" charset="0"/>
                <a:ea typeface="Yu Gothic" pitchFamily="34" charset="-122"/>
                <a:cs typeface="Yu Gothic" pitchFamily="34" charset="-120"/>
              </a:rPr>
              <a:t>撮影・研修・イベントで竹林を使う。</a:t>
            </a:r>
            <a:endParaRPr lang="en-US" sz="1200" dirty="0"/>
          </a:p>
        </p:txBody>
      </p:sp>
      <p:sp>
        <p:nvSpPr>
          <p:cNvPr id="13" name="Shape 11"/>
          <p:cNvSpPr/>
          <p:nvPr/>
        </p:nvSpPr>
        <p:spPr>
          <a:xfrm>
            <a:off x="822960" y="5971032"/>
            <a:ext cx="347472" cy="347472"/>
          </a:xfrm>
          <a:prstGeom prst="ellipse">
            <a:avLst/>
          </a:prstGeom>
          <a:ln w="12700">
            <a:solidFill>
              <a:srgbClr val="C8A96E"/>
            </a:solidFill>
            <a:prstDash val="solid"/>
          </a:ln>
        </p:spPr>
      </p:sp>
      <p:sp>
        <p:nvSpPr>
          <p:cNvPr id="14" name="Text 12"/>
          <p:cNvSpPr/>
          <p:nvPr/>
        </p:nvSpPr>
        <p:spPr>
          <a:xfrm>
            <a:off x="822960" y="5989320"/>
            <a:ext cx="347472" cy="310896"/>
          </a:xfrm>
          <a:prstGeom prst="rect">
            <a:avLst/>
          </a:prstGeom>
          <a:noFill/>
          <a:ln/>
        </p:spPr>
        <p:txBody>
          <a:bodyPr wrap="square" lIns="0" tIns="0" rIns="0" bIns="0" rtlCol="0" anchor="ctr"/>
          <a:lstStyle/>
          <a:p>
            <a:pPr algn="ctr" indent="0" marL="0">
              <a:buNone/>
            </a:pPr>
            <a:r>
              <a:rPr lang="en-US" sz="1100" dirty="0">
                <a:solidFill>
                  <a:srgbClr val="C8A96E"/>
                </a:solidFill>
                <a:latin typeface="Cambria" pitchFamily="34" charset="0"/>
                <a:ea typeface="Cambria" pitchFamily="34" charset="-122"/>
                <a:cs typeface="Cambria" pitchFamily="34" charset="-120"/>
              </a:rPr>
              <a:t>3</a:t>
            </a:r>
            <a:endParaRPr lang="en-US" sz="1100" dirty="0"/>
          </a:p>
        </p:txBody>
      </p:sp>
      <p:sp>
        <p:nvSpPr>
          <p:cNvPr id="15" name="Text 13"/>
          <p:cNvSpPr/>
          <p:nvPr/>
        </p:nvSpPr>
        <p:spPr>
          <a:xfrm>
            <a:off x="1353312" y="5934456"/>
            <a:ext cx="2651760" cy="384048"/>
          </a:xfrm>
          <a:prstGeom prst="rect">
            <a:avLst/>
          </a:prstGeom>
          <a:noFill/>
          <a:ln/>
        </p:spPr>
        <p:txBody>
          <a:bodyPr wrap="square" lIns="0" tIns="0" rIns="0" bIns="0" rtlCol="0" anchor="ctr"/>
          <a:lstStyle/>
          <a:p>
            <a:pPr indent="0" marL="0">
              <a:buNone/>
            </a:pPr>
            <a:r>
              <a:rPr lang="en-US" sz="1400" b="1" dirty="0">
                <a:solidFill>
                  <a:srgbClr val="2C362A"/>
                </a:solidFill>
                <a:latin typeface="Yu Mincho" pitchFamily="34" charset="0"/>
                <a:ea typeface="Yu Mincho" pitchFamily="34" charset="-122"/>
                <a:cs typeface="Yu Mincho" pitchFamily="34" charset="-120"/>
              </a:rPr>
              <a:t>一 緒 に 手 を 入 れ る</a:t>
            </a:r>
            <a:endParaRPr lang="en-US" sz="1400" dirty="0"/>
          </a:p>
        </p:txBody>
      </p:sp>
      <p:sp>
        <p:nvSpPr>
          <p:cNvPr id="16" name="Text 14"/>
          <p:cNvSpPr/>
          <p:nvPr/>
        </p:nvSpPr>
        <p:spPr>
          <a:xfrm>
            <a:off x="4069080" y="5934456"/>
            <a:ext cx="3566160" cy="384048"/>
          </a:xfrm>
          <a:prstGeom prst="rect">
            <a:avLst/>
          </a:prstGeom>
          <a:noFill/>
          <a:ln/>
        </p:spPr>
        <p:txBody>
          <a:bodyPr wrap="square" lIns="0" tIns="0" rIns="0" bIns="0" rtlCol="0" anchor="ctr"/>
          <a:lstStyle/>
          <a:p>
            <a:pPr indent="0" marL="0">
              <a:buNone/>
            </a:pPr>
            <a:r>
              <a:rPr lang="en-US" sz="1200" dirty="0">
                <a:solidFill>
                  <a:srgbClr val="3A4438"/>
                </a:solidFill>
                <a:latin typeface="Yu Gothic" pitchFamily="34" charset="0"/>
                <a:ea typeface="Yu Gothic" pitchFamily="34" charset="-122"/>
                <a:cs typeface="Yu Gothic" pitchFamily="34" charset="-120"/>
              </a:rPr>
              <a:t>整備・企画をともにする仲間や企業を募集中。</a:t>
            </a:r>
            <a:endParaRPr lang="en-US" sz="1200" dirty="0"/>
          </a:p>
        </p:txBody>
      </p:sp>
      <p:sp>
        <p:nvSpPr>
          <p:cNvPr id="17" name="Shape 15"/>
          <p:cNvSpPr/>
          <p:nvPr/>
        </p:nvSpPr>
        <p:spPr>
          <a:xfrm>
            <a:off x="8001000" y="1097280"/>
            <a:ext cx="3566160" cy="3566160"/>
          </a:xfrm>
          <a:prstGeom prst="ellipse">
            <a:avLst/>
          </a:prstGeom>
          <a:ln w="12700">
            <a:solidFill>
              <a:srgbClr val="C8A96E"/>
            </a:solidFill>
            <a:prstDash val="solid"/>
          </a:ln>
        </p:spPr>
      </p:sp>
      <p:pic>
        <p:nvPicPr>
          <p:cNvPr id="18" name="Image 0" descr="/tmp/claude-0/-home-user-bamboo-hp/ff9834b5-0209-5f50-8799-4952c8f99085/scratchpad/img/takenoko.jpg">    </p:cNvPr>
          <p:cNvPicPr>
            <a:picLocks noChangeAspect="1"/>
          </p:cNvPicPr>
          <p:nvPr/>
        </p:nvPicPr>
        <p:blipFill>
          <a:blip r:embed="rId1"/>
          <a:srcRect l="0" r="0" t="0" b="0"/>
          <a:stretch/>
        </p:blipFill>
        <p:spPr>
          <a:xfrm>
            <a:off x="8183880" y="1280160"/>
            <a:ext cx="3200400" cy="3200400"/>
          </a:xfrm>
          <a:prstGeom prst="ellipse">
            <a:avLst/>
          </a:prstGeom>
        </p:spPr>
      </p:pic>
      <p:sp>
        <p:nvSpPr>
          <p:cNvPr id="19" name="Text 16"/>
          <p:cNvSpPr/>
          <p:nvPr/>
        </p:nvSpPr>
        <p:spPr>
          <a:xfrm>
            <a:off x="8001000" y="4983480"/>
            <a:ext cx="3566160" cy="822960"/>
          </a:xfrm>
          <a:prstGeom prst="rect">
            <a:avLst/>
          </a:prstGeom>
          <a:noFill/>
          <a:ln/>
        </p:spPr>
        <p:txBody>
          <a:bodyPr wrap="square" lIns="0" tIns="0" rIns="0" bIns="0" rtlCol="0" anchor="ctr"/>
          <a:lstStyle/>
          <a:p>
            <a:pPr algn="ctr" indent="0" marL="0">
              <a:lnSpc>
                <a:spcPts val="2600"/>
              </a:lnSpc>
              <a:buNone/>
            </a:pPr>
            <a:r>
              <a:rPr lang="en-US" sz="1400" dirty="0">
                <a:solidFill>
                  <a:srgbClr val="7A8C76"/>
                </a:solidFill>
                <a:latin typeface="Yu Mincho" pitchFamily="34" charset="0"/>
                <a:ea typeface="Yu Mincho" pitchFamily="34" charset="-122"/>
                <a:cs typeface="Yu Mincho" pitchFamily="34" charset="-120"/>
              </a:rPr>
              <a:t>関わる人が増えるほど、</a:t>
            </a:r>
            <a:endParaRPr lang="en-US" sz="1400" dirty="0"/>
          </a:p>
          <a:p>
            <a:pPr algn="ctr" indent="0" marL="0">
              <a:lnSpc>
                <a:spcPts val="2600"/>
              </a:lnSpc>
              <a:buNone/>
            </a:pPr>
            <a:r>
              <a:rPr lang="en-US" sz="1400" dirty="0">
                <a:solidFill>
                  <a:srgbClr val="7A8C76"/>
                </a:solidFill>
                <a:latin typeface="Yu Mincho" pitchFamily="34" charset="0"/>
                <a:ea typeface="Yu Mincho" pitchFamily="34" charset="-122"/>
                <a:cs typeface="Yu Mincho" pitchFamily="34" charset="-120"/>
              </a:rPr>
              <a:t>竹林は明るくなる。</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C362A"/>
        </a:solidFill>
      </p:bgPr>
    </p:bg>
    <p:spTree>
      <p:nvGrpSpPr>
        <p:cNvPr id="1" name=""/>
        <p:cNvGrpSpPr/>
        <p:nvPr/>
      </p:nvGrpSpPr>
      <p:grpSpPr>
        <a:xfrm>
          <a:off x="0" y="0"/>
          <a:ext cx="0" cy="0"/>
          <a:chOff x="0" y="0"/>
          <a:chExt cx="0" cy="0"/>
        </a:xfrm>
      </p:grpSpPr>
      <p:sp>
        <p:nvSpPr>
          <p:cNvPr id="2" name="Text 0"/>
          <p:cNvSpPr/>
          <p:nvPr/>
        </p:nvSpPr>
        <p:spPr>
          <a:xfrm>
            <a:off x="822960" y="777240"/>
            <a:ext cx="5486400" cy="256032"/>
          </a:xfrm>
          <a:prstGeom prst="rect">
            <a:avLst/>
          </a:prstGeom>
          <a:noFill/>
          <a:ln/>
        </p:spPr>
        <p:txBody>
          <a:bodyPr wrap="square" lIns="0" tIns="0" rIns="0" bIns="0" rtlCol="0" anchor="ctr"/>
          <a:lstStyle/>
          <a:p>
            <a:pPr indent="0" marL="0">
              <a:buNone/>
            </a:pPr>
            <a:r>
              <a:rPr lang="en-US" sz="1100" spc="300" kern="0" dirty="0">
                <a:solidFill>
                  <a:srgbClr val="C8A96E"/>
                </a:solidFill>
                <a:latin typeface="Cambria" pitchFamily="34" charset="0"/>
                <a:ea typeface="Cambria" pitchFamily="34" charset="-122"/>
                <a:cs typeface="Cambria" pitchFamily="34" charset="-120"/>
              </a:rPr>
              <a:t>C O N N E C T</a:t>
            </a:r>
            <a:endParaRPr lang="en-US" sz="1100" dirty="0"/>
          </a:p>
        </p:txBody>
      </p:sp>
      <p:sp>
        <p:nvSpPr>
          <p:cNvPr id="3" name="Text 1"/>
          <p:cNvSpPr/>
          <p:nvPr/>
        </p:nvSpPr>
        <p:spPr>
          <a:xfrm>
            <a:off x="822960" y="1143000"/>
            <a:ext cx="7315200" cy="699008"/>
          </a:xfrm>
          <a:prstGeom prst="rect">
            <a:avLst/>
          </a:prstGeom>
          <a:noFill/>
          <a:ln/>
        </p:spPr>
        <p:txBody>
          <a:bodyPr wrap="square" lIns="0" tIns="0" rIns="0" bIns="0" rtlCol="0" anchor="t"/>
          <a:lstStyle/>
          <a:p>
            <a:pPr indent="0" marL="0">
              <a:lnSpc>
                <a:spcPts val="4640"/>
              </a:lnSpc>
              <a:buNone/>
            </a:pPr>
            <a:r>
              <a:rPr lang="en-US" sz="3200" b="1" dirty="0">
                <a:solidFill>
                  <a:srgbClr val="E8EDE7"/>
                </a:solidFill>
                <a:latin typeface="Yu Mincho" pitchFamily="34" charset="0"/>
                <a:ea typeface="Yu Mincho" pitchFamily="34" charset="-122"/>
                <a:cs typeface="Yu Mincho" pitchFamily="34" charset="-120"/>
              </a:rPr>
              <a:t>竹林で、お会いしましょう。</a:t>
            </a:r>
            <a:endParaRPr lang="en-US" sz="3200" dirty="0"/>
          </a:p>
        </p:txBody>
      </p:sp>
      <p:sp>
        <p:nvSpPr>
          <p:cNvPr id="4" name="Text 2"/>
          <p:cNvSpPr/>
          <p:nvPr/>
        </p:nvSpPr>
        <p:spPr>
          <a:xfrm>
            <a:off x="822960" y="2514600"/>
            <a:ext cx="1600200" cy="384048"/>
          </a:xfrm>
          <a:prstGeom prst="rect">
            <a:avLst/>
          </a:prstGeom>
          <a:noFill/>
          <a:ln/>
        </p:spPr>
        <p:txBody>
          <a:bodyPr wrap="square" lIns="0" tIns="0" rIns="0" bIns="0" rtlCol="0" anchor="ctr"/>
          <a:lstStyle/>
          <a:p>
            <a:pPr indent="0" marL="0">
              <a:buNone/>
            </a:pPr>
            <a:r>
              <a:rPr lang="en-US" sz="1050" spc="200" kern="0" dirty="0">
                <a:solidFill>
                  <a:srgbClr val="C8A96E"/>
                </a:solidFill>
                <a:latin typeface="Cambria" pitchFamily="34" charset="0"/>
                <a:ea typeface="Cambria" pitchFamily="34" charset="-122"/>
                <a:cs typeface="Cambria" pitchFamily="34" charset="-120"/>
              </a:rPr>
              <a:t>Instagram</a:t>
            </a:r>
            <a:endParaRPr lang="en-US" sz="1050" dirty="0"/>
          </a:p>
        </p:txBody>
      </p:sp>
      <p:sp>
        <p:nvSpPr>
          <p:cNvPr id="5" name="Text 3"/>
          <p:cNvSpPr/>
          <p:nvPr/>
        </p:nvSpPr>
        <p:spPr>
          <a:xfrm>
            <a:off x="2514600" y="2514600"/>
            <a:ext cx="5120640" cy="384048"/>
          </a:xfrm>
          <a:prstGeom prst="rect">
            <a:avLst/>
          </a:prstGeom>
          <a:noFill/>
          <a:ln/>
        </p:spPr>
        <p:txBody>
          <a:bodyPr wrap="square" lIns="0" tIns="0" rIns="0" bIns="0" rtlCol="0" anchor="ctr"/>
          <a:lstStyle/>
          <a:p>
            <a:pPr indent="0" marL="0">
              <a:buNone/>
            </a:pPr>
            <a:r>
              <a:rPr lang="en-US" sz="1300" dirty="0">
                <a:solidFill>
                  <a:srgbClr val="E8EDE7"/>
                </a:solidFill>
                <a:latin typeface="Yu Gothic" pitchFamily="34" charset="0"/>
                <a:ea typeface="Yu Gothic" pitchFamily="34" charset="-122"/>
                <a:cs typeface="Yu Gothic" pitchFamily="34" charset="-120"/>
              </a:rPr>
              <a:t>@takesumikochan ― 最新のイベント情報</a:t>
            </a:r>
            <a:endParaRPr lang="en-US" sz="1300" dirty="0"/>
          </a:p>
        </p:txBody>
      </p:sp>
      <p:sp>
        <p:nvSpPr>
          <p:cNvPr id="6" name="Shape 4"/>
          <p:cNvSpPr/>
          <p:nvPr/>
        </p:nvSpPr>
        <p:spPr>
          <a:xfrm>
            <a:off x="822960" y="2935224"/>
            <a:ext cx="6812280" cy="0"/>
          </a:xfrm>
          <a:prstGeom prst="line">
            <a:avLst/>
          </a:prstGeom>
          <a:noFill/>
          <a:ln w="9525">
            <a:solidFill>
              <a:srgbClr val="E8EDE7">
                <a:alpha val="15000"/>
              </a:srgbClr>
            </a:solidFill>
            <a:prstDash val="solid"/>
          </a:ln>
        </p:spPr>
      </p:sp>
      <p:sp>
        <p:nvSpPr>
          <p:cNvPr id="7" name="Text 5"/>
          <p:cNvSpPr/>
          <p:nvPr/>
        </p:nvSpPr>
        <p:spPr>
          <a:xfrm>
            <a:off x="822960" y="2999232"/>
            <a:ext cx="1600200" cy="384048"/>
          </a:xfrm>
          <a:prstGeom prst="rect">
            <a:avLst/>
          </a:prstGeom>
          <a:noFill/>
          <a:ln/>
        </p:spPr>
        <p:txBody>
          <a:bodyPr wrap="square" lIns="0" tIns="0" rIns="0" bIns="0" rtlCol="0" anchor="ctr"/>
          <a:lstStyle/>
          <a:p>
            <a:pPr indent="0" marL="0">
              <a:buNone/>
            </a:pPr>
            <a:r>
              <a:rPr lang="en-US" sz="1050" spc="200" kern="0" dirty="0">
                <a:solidFill>
                  <a:srgbClr val="C8A96E"/>
                </a:solidFill>
                <a:latin typeface="Cambria" pitchFamily="34" charset="0"/>
                <a:ea typeface="Cambria" pitchFamily="34" charset="-122"/>
                <a:cs typeface="Cambria" pitchFamily="34" charset="-120"/>
              </a:rPr>
              <a:t>Instagram</a:t>
            </a:r>
            <a:endParaRPr lang="en-US" sz="1050" dirty="0"/>
          </a:p>
        </p:txBody>
      </p:sp>
      <p:sp>
        <p:nvSpPr>
          <p:cNvPr id="8" name="Text 6"/>
          <p:cNvSpPr/>
          <p:nvPr/>
        </p:nvSpPr>
        <p:spPr>
          <a:xfrm>
            <a:off x="2514600" y="2999232"/>
            <a:ext cx="5120640" cy="384048"/>
          </a:xfrm>
          <a:prstGeom prst="rect">
            <a:avLst/>
          </a:prstGeom>
          <a:noFill/>
          <a:ln/>
        </p:spPr>
        <p:txBody>
          <a:bodyPr wrap="square" lIns="0" tIns="0" rIns="0" bIns="0" rtlCol="0" anchor="ctr"/>
          <a:lstStyle/>
          <a:p>
            <a:pPr indent="0" marL="0">
              <a:buNone/>
            </a:pPr>
            <a:r>
              <a:rPr lang="en-US" sz="1300" dirty="0">
                <a:solidFill>
                  <a:srgbClr val="E8EDE7"/>
                </a:solidFill>
                <a:latin typeface="Yu Gothic" pitchFamily="34" charset="0"/>
                <a:ea typeface="Yu Gothic" pitchFamily="34" charset="-122"/>
                <a:cs typeface="Yu Gothic" pitchFamily="34" charset="-120"/>
              </a:rPr>
              <a:t>@meisoukasumi</a:t>
            </a:r>
            <a:endParaRPr lang="en-US" sz="1300" dirty="0"/>
          </a:p>
        </p:txBody>
      </p:sp>
      <p:sp>
        <p:nvSpPr>
          <p:cNvPr id="9" name="Shape 7"/>
          <p:cNvSpPr/>
          <p:nvPr/>
        </p:nvSpPr>
        <p:spPr>
          <a:xfrm>
            <a:off x="822960" y="3419856"/>
            <a:ext cx="6812280" cy="0"/>
          </a:xfrm>
          <a:prstGeom prst="line">
            <a:avLst/>
          </a:prstGeom>
          <a:noFill/>
          <a:ln w="9525">
            <a:solidFill>
              <a:srgbClr val="E8EDE7">
                <a:alpha val="15000"/>
              </a:srgbClr>
            </a:solidFill>
            <a:prstDash val="solid"/>
          </a:ln>
        </p:spPr>
      </p:sp>
      <p:sp>
        <p:nvSpPr>
          <p:cNvPr id="10" name="Text 8"/>
          <p:cNvSpPr/>
          <p:nvPr/>
        </p:nvSpPr>
        <p:spPr>
          <a:xfrm>
            <a:off x="822960" y="3483864"/>
            <a:ext cx="1600200" cy="384048"/>
          </a:xfrm>
          <a:prstGeom prst="rect">
            <a:avLst/>
          </a:prstGeom>
          <a:noFill/>
          <a:ln/>
        </p:spPr>
        <p:txBody>
          <a:bodyPr wrap="square" lIns="0" tIns="0" rIns="0" bIns="0" rtlCol="0" anchor="ctr"/>
          <a:lstStyle/>
          <a:p>
            <a:pPr indent="0" marL="0">
              <a:buNone/>
            </a:pPr>
            <a:r>
              <a:rPr lang="en-US" sz="1050" spc="200" kern="0" dirty="0">
                <a:solidFill>
                  <a:srgbClr val="C8A96E"/>
                </a:solidFill>
                <a:latin typeface="Cambria" pitchFamily="34" charset="0"/>
                <a:ea typeface="Cambria" pitchFamily="34" charset="-122"/>
                <a:cs typeface="Cambria" pitchFamily="34" charset="-120"/>
              </a:rPr>
              <a:t>YouTube</a:t>
            </a:r>
            <a:endParaRPr lang="en-US" sz="1050" dirty="0"/>
          </a:p>
        </p:txBody>
      </p:sp>
      <p:sp>
        <p:nvSpPr>
          <p:cNvPr id="11" name="Text 9"/>
          <p:cNvSpPr/>
          <p:nvPr/>
        </p:nvSpPr>
        <p:spPr>
          <a:xfrm>
            <a:off x="2514600" y="3483864"/>
            <a:ext cx="5120640" cy="384048"/>
          </a:xfrm>
          <a:prstGeom prst="rect">
            <a:avLst/>
          </a:prstGeom>
          <a:noFill/>
          <a:ln/>
        </p:spPr>
        <p:txBody>
          <a:bodyPr wrap="square" lIns="0" tIns="0" rIns="0" bIns="0" rtlCol="0" anchor="ctr"/>
          <a:lstStyle/>
          <a:p>
            <a:pPr indent="0" marL="0">
              <a:buNone/>
            </a:pPr>
            <a:r>
              <a:rPr lang="en-US" sz="1300" dirty="0">
                <a:solidFill>
                  <a:srgbClr val="E8EDE7"/>
                </a:solidFill>
                <a:latin typeface="Yu Gothic" pitchFamily="34" charset="0"/>
                <a:ea typeface="Yu Gothic" pitchFamily="34" charset="-122"/>
                <a:cs typeface="Yu Gothic" pitchFamily="34" charset="-120"/>
              </a:rPr>
              <a:t>@user-takenoko ― 竹林の様子を動画で</a:t>
            </a:r>
            <a:endParaRPr lang="en-US" sz="1300" dirty="0"/>
          </a:p>
        </p:txBody>
      </p:sp>
      <p:sp>
        <p:nvSpPr>
          <p:cNvPr id="12" name="Shape 10"/>
          <p:cNvSpPr/>
          <p:nvPr/>
        </p:nvSpPr>
        <p:spPr>
          <a:xfrm>
            <a:off x="822960" y="3904488"/>
            <a:ext cx="6812280" cy="0"/>
          </a:xfrm>
          <a:prstGeom prst="line">
            <a:avLst/>
          </a:prstGeom>
          <a:noFill/>
          <a:ln w="9525">
            <a:solidFill>
              <a:srgbClr val="E8EDE7">
                <a:alpha val="15000"/>
              </a:srgbClr>
            </a:solidFill>
            <a:prstDash val="solid"/>
          </a:ln>
        </p:spPr>
      </p:sp>
      <p:sp>
        <p:nvSpPr>
          <p:cNvPr id="13" name="Text 11"/>
          <p:cNvSpPr/>
          <p:nvPr/>
        </p:nvSpPr>
        <p:spPr>
          <a:xfrm>
            <a:off x="822960" y="3968496"/>
            <a:ext cx="1600200" cy="384048"/>
          </a:xfrm>
          <a:prstGeom prst="rect">
            <a:avLst/>
          </a:prstGeom>
          <a:noFill/>
          <a:ln/>
        </p:spPr>
        <p:txBody>
          <a:bodyPr wrap="square" lIns="0" tIns="0" rIns="0" bIns="0" rtlCol="0" anchor="ctr"/>
          <a:lstStyle/>
          <a:p>
            <a:pPr indent="0" marL="0">
              <a:buNone/>
            </a:pPr>
            <a:r>
              <a:rPr lang="en-US" sz="1050" spc="200" kern="0" dirty="0">
                <a:solidFill>
                  <a:srgbClr val="C8A96E"/>
                </a:solidFill>
                <a:latin typeface="Cambria" pitchFamily="34" charset="0"/>
                <a:ea typeface="Cambria" pitchFamily="34" charset="-122"/>
                <a:cs typeface="Cambria" pitchFamily="34" charset="-120"/>
              </a:rPr>
              <a:t>note</a:t>
            </a:r>
            <a:endParaRPr lang="en-US" sz="1050" dirty="0"/>
          </a:p>
        </p:txBody>
      </p:sp>
      <p:sp>
        <p:nvSpPr>
          <p:cNvPr id="14" name="Text 12"/>
          <p:cNvSpPr/>
          <p:nvPr/>
        </p:nvSpPr>
        <p:spPr>
          <a:xfrm>
            <a:off x="2514600" y="3968496"/>
            <a:ext cx="5120640" cy="384048"/>
          </a:xfrm>
          <a:prstGeom prst="rect">
            <a:avLst/>
          </a:prstGeom>
          <a:noFill/>
          <a:ln/>
        </p:spPr>
        <p:txBody>
          <a:bodyPr wrap="square" lIns="0" tIns="0" rIns="0" bIns="0" rtlCol="0" anchor="ctr"/>
          <a:lstStyle/>
          <a:p>
            <a:pPr indent="0" marL="0">
              <a:buNone/>
            </a:pPr>
            <a:r>
              <a:rPr lang="en-US" sz="1300" dirty="0">
                <a:solidFill>
                  <a:srgbClr val="E8EDE7"/>
                </a:solidFill>
                <a:latin typeface="Yu Gothic" pitchFamily="34" charset="0"/>
                <a:ea typeface="Yu Gothic" pitchFamily="34" charset="-122"/>
                <a:cs typeface="Yu Gothic" pitchFamily="34" charset="-120"/>
              </a:rPr>
              <a:t>note.com/takesumiko ― 竹林からの言葉</a:t>
            </a:r>
            <a:endParaRPr lang="en-US" sz="1300" dirty="0"/>
          </a:p>
        </p:txBody>
      </p:sp>
      <p:sp>
        <p:nvSpPr>
          <p:cNvPr id="15" name="Shape 13"/>
          <p:cNvSpPr/>
          <p:nvPr/>
        </p:nvSpPr>
        <p:spPr>
          <a:xfrm>
            <a:off x="822960" y="4389120"/>
            <a:ext cx="6812280" cy="0"/>
          </a:xfrm>
          <a:prstGeom prst="line">
            <a:avLst/>
          </a:prstGeom>
          <a:noFill/>
          <a:ln w="9525">
            <a:solidFill>
              <a:srgbClr val="E8EDE7">
                <a:alpha val="15000"/>
              </a:srgbClr>
            </a:solidFill>
            <a:prstDash val="solid"/>
          </a:ln>
        </p:spPr>
      </p:sp>
      <p:sp>
        <p:nvSpPr>
          <p:cNvPr id="16" name="Text 14"/>
          <p:cNvSpPr/>
          <p:nvPr/>
        </p:nvSpPr>
        <p:spPr>
          <a:xfrm>
            <a:off x="822960" y="4453128"/>
            <a:ext cx="1600200" cy="384048"/>
          </a:xfrm>
          <a:prstGeom prst="rect">
            <a:avLst/>
          </a:prstGeom>
          <a:noFill/>
          <a:ln/>
        </p:spPr>
        <p:txBody>
          <a:bodyPr wrap="square" lIns="0" tIns="0" rIns="0" bIns="0" rtlCol="0" anchor="ctr"/>
          <a:lstStyle/>
          <a:p>
            <a:pPr indent="0" marL="0">
              <a:buNone/>
            </a:pPr>
            <a:r>
              <a:rPr lang="en-US" sz="1050" spc="200" kern="0" dirty="0">
                <a:solidFill>
                  <a:srgbClr val="C8A96E"/>
                </a:solidFill>
                <a:latin typeface="Cambria" pitchFamily="34" charset="0"/>
                <a:ea typeface="Cambria" pitchFamily="34" charset="-122"/>
                <a:cs typeface="Cambria" pitchFamily="34" charset="-120"/>
              </a:rPr>
              <a:t>LINE</a:t>
            </a:r>
            <a:endParaRPr lang="en-US" sz="1050" dirty="0"/>
          </a:p>
        </p:txBody>
      </p:sp>
      <p:sp>
        <p:nvSpPr>
          <p:cNvPr id="17" name="Text 15"/>
          <p:cNvSpPr/>
          <p:nvPr/>
        </p:nvSpPr>
        <p:spPr>
          <a:xfrm>
            <a:off x="2514600" y="4453128"/>
            <a:ext cx="5120640" cy="384048"/>
          </a:xfrm>
          <a:prstGeom prst="rect">
            <a:avLst/>
          </a:prstGeom>
          <a:noFill/>
          <a:ln/>
        </p:spPr>
        <p:txBody>
          <a:bodyPr wrap="square" lIns="0" tIns="0" rIns="0" bIns="0" rtlCol="0" anchor="ctr"/>
          <a:lstStyle/>
          <a:p>
            <a:pPr indent="0" marL="0">
              <a:buNone/>
            </a:pPr>
            <a:r>
              <a:rPr lang="en-US" sz="1300" dirty="0">
                <a:solidFill>
                  <a:srgbClr val="E8EDE7"/>
                </a:solidFill>
                <a:latin typeface="Yu Gothic" pitchFamily="34" charset="0"/>
                <a:ea typeface="Yu Gothic" pitchFamily="34" charset="-122"/>
                <a:cs typeface="Yu Gothic" pitchFamily="34" charset="-120"/>
              </a:rPr>
              <a:t>ご予約・お問い合わせ</a:t>
            </a:r>
            <a:endParaRPr lang="en-US" sz="1300" dirty="0"/>
          </a:p>
        </p:txBody>
      </p:sp>
      <p:sp>
        <p:nvSpPr>
          <p:cNvPr id="18" name="Shape 16"/>
          <p:cNvSpPr/>
          <p:nvPr/>
        </p:nvSpPr>
        <p:spPr>
          <a:xfrm>
            <a:off x="822960" y="4873752"/>
            <a:ext cx="6812280" cy="0"/>
          </a:xfrm>
          <a:prstGeom prst="line">
            <a:avLst/>
          </a:prstGeom>
          <a:noFill/>
          <a:ln w="9525">
            <a:solidFill>
              <a:srgbClr val="E8EDE7">
                <a:alpha val="15000"/>
              </a:srgbClr>
            </a:solidFill>
            <a:prstDash val="solid"/>
          </a:ln>
        </p:spPr>
      </p:sp>
      <p:sp>
        <p:nvSpPr>
          <p:cNvPr id="19" name="Text 17"/>
          <p:cNvSpPr/>
          <p:nvPr/>
        </p:nvSpPr>
        <p:spPr>
          <a:xfrm>
            <a:off x="822960" y="4937760"/>
            <a:ext cx="1600200" cy="384048"/>
          </a:xfrm>
          <a:prstGeom prst="rect">
            <a:avLst/>
          </a:prstGeom>
          <a:noFill/>
          <a:ln/>
        </p:spPr>
        <p:txBody>
          <a:bodyPr wrap="square" lIns="0" tIns="0" rIns="0" bIns="0" rtlCol="0" anchor="ctr"/>
          <a:lstStyle/>
          <a:p>
            <a:pPr indent="0" marL="0">
              <a:buNone/>
            </a:pPr>
            <a:r>
              <a:rPr lang="en-US" sz="1050" spc="200" kern="0" dirty="0">
                <a:solidFill>
                  <a:srgbClr val="C8A96E"/>
                </a:solidFill>
                <a:latin typeface="Cambria" pitchFamily="34" charset="0"/>
                <a:ea typeface="Cambria" pitchFamily="34" charset="-122"/>
                <a:cs typeface="Cambria" pitchFamily="34" charset="-120"/>
              </a:rPr>
              <a:t>Web</a:t>
            </a:r>
            <a:endParaRPr lang="en-US" sz="1050" dirty="0"/>
          </a:p>
        </p:txBody>
      </p:sp>
      <p:sp>
        <p:nvSpPr>
          <p:cNvPr id="20" name="Text 18"/>
          <p:cNvSpPr/>
          <p:nvPr/>
        </p:nvSpPr>
        <p:spPr>
          <a:xfrm>
            <a:off x="2514600" y="4937760"/>
            <a:ext cx="5120640" cy="384048"/>
          </a:xfrm>
          <a:prstGeom prst="rect">
            <a:avLst/>
          </a:prstGeom>
          <a:noFill/>
          <a:ln/>
        </p:spPr>
        <p:txBody>
          <a:bodyPr wrap="square" lIns="0" tIns="0" rIns="0" bIns="0" rtlCol="0" anchor="ctr"/>
          <a:lstStyle/>
          <a:p>
            <a:pPr indent="0" marL="0">
              <a:buNone/>
            </a:pPr>
            <a:r>
              <a:rPr lang="en-US" sz="1300" dirty="0">
                <a:solidFill>
                  <a:srgbClr val="E8EDE7"/>
                </a:solidFill>
                <a:latin typeface="Yu Gothic" pitchFamily="34" charset="0"/>
                <a:ea typeface="Yu Gothic" pitchFamily="34" charset="-122"/>
                <a:cs typeface="Yu Gothic" pitchFamily="34" charset="-120"/>
              </a:rPr>
              <a:t>wsmaruma.com ― Forest Works</a:t>
            </a:r>
            <a:endParaRPr lang="en-US" sz="1300" dirty="0"/>
          </a:p>
        </p:txBody>
      </p:sp>
      <p:sp>
        <p:nvSpPr>
          <p:cNvPr id="21" name="Shape 19"/>
          <p:cNvSpPr/>
          <p:nvPr/>
        </p:nvSpPr>
        <p:spPr>
          <a:xfrm>
            <a:off x="822960" y="5358384"/>
            <a:ext cx="6812280" cy="0"/>
          </a:xfrm>
          <a:prstGeom prst="line">
            <a:avLst/>
          </a:prstGeom>
          <a:noFill/>
          <a:ln w="9525">
            <a:solidFill>
              <a:srgbClr val="E8EDE7">
                <a:alpha val="15000"/>
              </a:srgbClr>
            </a:solidFill>
            <a:prstDash val="solid"/>
          </a:ln>
        </p:spPr>
      </p:sp>
      <p:sp>
        <p:nvSpPr>
          <p:cNvPr id="22" name="Text 20"/>
          <p:cNvSpPr/>
          <p:nvPr/>
        </p:nvSpPr>
        <p:spPr>
          <a:xfrm>
            <a:off x="822960" y="5422392"/>
            <a:ext cx="1600200" cy="384048"/>
          </a:xfrm>
          <a:prstGeom prst="rect">
            <a:avLst/>
          </a:prstGeom>
          <a:noFill/>
          <a:ln/>
        </p:spPr>
        <p:txBody>
          <a:bodyPr wrap="square" lIns="0" tIns="0" rIns="0" bIns="0" rtlCol="0" anchor="ctr"/>
          <a:lstStyle/>
          <a:p>
            <a:pPr indent="0" marL="0">
              <a:buNone/>
            </a:pPr>
            <a:r>
              <a:rPr lang="en-US" sz="1050" spc="200" kern="0" dirty="0">
                <a:solidFill>
                  <a:srgbClr val="C8A96E"/>
                </a:solidFill>
                <a:latin typeface="Cambria" pitchFamily="34" charset="0"/>
                <a:ea typeface="Cambria" pitchFamily="34" charset="-122"/>
                <a:cs typeface="Cambria" pitchFamily="34" charset="-120"/>
              </a:rPr>
              <a:t>Place</a:t>
            </a:r>
            <a:endParaRPr lang="en-US" sz="1050" dirty="0"/>
          </a:p>
        </p:txBody>
      </p:sp>
      <p:sp>
        <p:nvSpPr>
          <p:cNvPr id="23" name="Text 21"/>
          <p:cNvSpPr/>
          <p:nvPr/>
        </p:nvSpPr>
        <p:spPr>
          <a:xfrm>
            <a:off x="2514600" y="5422392"/>
            <a:ext cx="5120640" cy="384048"/>
          </a:xfrm>
          <a:prstGeom prst="rect">
            <a:avLst/>
          </a:prstGeom>
          <a:noFill/>
          <a:ln/>
        </p:spPr>
        <p:txBody>
          <a:bodyPr wrap="square" lIns="0" tIns="0" rIns="0" bIns="0" rtlCol="0" anchor="ctr"/>
          <a:lstStyle/>
          <a:p>
            <a:pPr indent="0" marL="0">
              <a:buNone/>
            </a:pPr>
            <a:r>
              <a:rPr lang="en-US" sz="1300" dirty="0">
                <a:solidFill>
                  <a:srgbClr val="E8EDE7"/>
                </a:solidFill>
                <a:latin typeface="Yu Gothic" pitchFamily="34" charset="0"/>
                <a:ea typeface="Yu Gothic" pitchFamily="34" charset="-122"/>
                <a:cs typeface="Yu Gothic" pitchFamily="34" charset="-120"/>
              </a:rPr>
              <a:t>茨城県かすみがうら市</a:t>
            </a:r>
            <a:endParaRPr lang="en-US" sz="1300" dirty="0"/>
          </a:p>
        </p:txBody>
      </p:sp>
      <p:sp>
        <p:nvSpPr>
          <p:cNvPr id="24" name="Shape 22"/>
          <p:cNvSpPr/>
          <p:nvPr/>
        </p:nvSpPr>
        <p:spPr>
          <a:xfrm>
            <a:off x="822960" y="5843016"/>
            <a:ext cx="6812280" cy="0"/>
          </a:xfrm>
          <a:prstGeom prst="line">
            <a:avLst/>
          </a:prstGeom>
          <a:noFill/>
          <a:ln w="9525">
            <a:solidFill>
              <a:srgbClr val="E8EDE7">
                <a:alpha val="15000"/>
              </a:srgbClr>
            </a:solidFill>
            <a:prstDash val="solid"/>
          </a:ln>
        </p:spPr>
      </p:sp>
      <p:sp>
        <p:nvSpPr>
          <p:cNvPr id="25" name="Shape 23"/>
          <p:cNvSpPr/>
          <p:nvPr/>
        </p:nvSpPr>
        <p:spPr>
          <a:xfrm>
            <a:off x="8183880" y="2331720"/>
            <a:ext cx="3246120" cy="3246120"/>
          </a:xfrm>
          <a:prstGeom prst="ellipse">
            <a:avLst/>
          </a:prstGeom>
          <a:ln w="12700">
            <a:solidFill>
              <a:srgbClr val="C8A96E"/>
            </a:solidFill>
            <a:prstDash val="solid"/>
          </a:ln>
        </p:spPr>
      </p:sp>
      <p:pic>
        <p:nvPicPr>
          <p:cNvPr id="26" name="Image 0" descr="/tmp/claude-0/-home-user-bamboo-hp/ff9834b5-0209-5f50-8799-4952c8f99085/scratchpad/img/path.jpg">    </p:cNvPr>
          <p:cNvPicPr>
            <a:picLocks noChangeAspect="1"/>
          </p:cNvPicPr>
          <p:nvPr/>
        </p:nvPicPr>
        <p:blipFill>
          <a:blip r:embed="rId1"/>
          <a:srcRect l="0" r="0" t="0" b="0"/>
          <a:stretch/>
        </p:blipFill>
        <p:spPr>
          <a:xfrm>
            <a:off x="8348472" y="2496312"/>
            <a:ext cx="2926080" cy="2926080"/>
          </a:xfrm>
          <a:prstGeom prst="ellipse">
            <a:avLst/>
          </a:prstGeom>
        </p:spPr>
      </p:pic>
      <p:sp>
        <p:nvSpPr>
          <p:cNvPr id="27" name="Text 24"/>
          <p:cNvSpPr/>
          <p:nvPr/>
        </p:nvSpPr>
        <p:spPr>
          <a:xfrm>
            <a:off x="7863840" y="5715000"/>
            <a:ext cx="3840480" cy="320040"/>
          </a:xfrm>
          <a:prstGeom prst="rect">
            <a:avLst/>
          </a:prstGeom>
          <a:noFill/>
          <a:ln/>
        </p:spPr>
        <p:txBody>
          <a:bodyPr wrap="square" lIns="0" tIns="0" rIns="0" bIns="0" rtlCol="0" anchor="ctr"/>
          <a:lstStyle/>
          <a:p>
            <a:pPr algn="ctr" indent="0" marL="0">
              <a:buNone/>
            </a:pPr>
            <a:r>
              <a:rPr lang="en-US" sz="1150" dirty="0">
                <a:solidFill>
                  <a:srgbClr val="7A8C76"/>
                </a:solidFill>
                <a:latin typeface="Yu Gothic" pitchFamily="34" charset="0"/>
                <a:ea typeface="Yu Gothic" pitchFamily="34" charset="-122"/>
                <a:cs typeface="Yu Gothic" pitchFamily="34" charset="-120"/>
              </a:rPr>
              <a:t>Forest Works ／ かすみがうら竹林ベース</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かすみがうら竹林ベース</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竹林のはなし — かすみがうら竹林ベース</dc:title>
  <dc:subject>PptxGenJS Presentation</dc:subject>
  <dc:creator>Forest Works</dc:creator>
  <cp:lastModifiedBy>Forest Works</cp:lastModifiedBy>
  <cp:revision>1</cp:revision>
  <dcterms:created xsi:type="dcterms:W3CDTF">2026-08-05T14:20:56Z</dcterms:created>
  <dcterms:modified xsi:type="dcterms:W3CDTF">2026-08-05T14:20:56Z</dcterms:modified>
</cp:coreProperties>
</file>